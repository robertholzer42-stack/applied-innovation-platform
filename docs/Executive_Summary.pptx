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560320"/>
            <a:ext cx="1097280"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0"/>
            <a:ext cx="10515600" cy="1280160"/>
          </a:xfrm>
          <a:prstGeom prst="rect">
            <a:avLst/>
          </a:prstGeom>
          <a:noFill/>
        </p:spPr>
        <p:txBody>
          <a:bodyPr wrap="square">
            <a:spAutoFit/>
          </a:bodyPr>
          <a:lstStyle/>
          <a:p>
            <a:pPr algn="l"/>
            <a:r>
              <a:rPr sz="5400" b="1">
                <a:solidFill>
                  <a:srgbClr val="FFFFFF"/>
                </a:solidFill>
                <a:latin typeface="Calibri"/>
              </a:rPr>
              <a:t>Applied Innovation Platform</a:t>
            </a:r>
          </a:p>
        </p:txBody>
      </p:sp>
      <p:sp>
        <p:nvSpPr>
          <p:cNvPr id="5" name="TextBox 4"/>
          <p:cNvSpPr txBox="1"/>
          <p:nvPr/>
        </p:nvSpPr>
        <p:spPr>
          <a:xfrm>
            <a:off x="731520" y="3931920"/>
            <a:ext cx="10515600" cy="640080"/>
          </a:xfrm>
          <a:prstGeom prst="rect">
            <a:avLst/>
          </a:prstGeom>
          <a:noFill/>
        </p:spPr>
        <p:txBody>
          <a:bodyPr wrap="square">
            <a:spAutoFit/>
          </a:bodyPr>
          <a:lstStyle/>
          <a:p>
            <a:pPr algn="l"/>
            <a:r>
              <a:rPr sz="2200" b="0">
                <a:solidFill>
                  <a:srgbClr val="FFFFFF"/>
                </a:solidFill>
                <a:latin typeface="Calibri"/>
              </a:rPr>
              <a:t>A multi-agent AI system that brings boardroom-grade discipline to innovation analysis.</a:t>
            </a:r>
          </a:p>
        </p:txBody>
      </p:sp>
      <p:sp>
        <p:nvSpPr>
          <p:cNvPr id="6" name="TextBox 5"/>
          <p:cNvSpPr txBox="1"/>
          <p:nvPr/>
        </p:nvSpPr>
        <p:spPr>
          <a:xfrm>
            <a:off x="731520" y="5852160"/>
            <a:ext cx="7315200" cy="365760"/>
          </a:xfrm>
          <a:prstGeom prst="rect">
            <a:avLst/>
          </a:prstGeom>
          <a:noFill/>
        </p:spPr>
        <p:txBody>
          <a:bodyPr wrap="square">
            <a:spAutoFit/>
          </a:bodyPr>
          <a:lstStyle/>
          <a:p>
            <a:pPr algn="l"/>
            <a:r>
              <a:rPr sz="1400" b="0">
                <a:solidFill>
                  <a:srgbClr val="FFFFFF"/>
                </a:solidFill>
                <a:latin typeface="Calibri"/>
              </a:rPr>
              <a:t>Robert Holzer  |  Next Horizon Innovations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2800" b="1">
                <a:solidFill>
                  <a:srgbClr val="FFFFFF"/>
                </a:solidFill>
                <a:latin typeface="Calibri"/>
              </a:rPr>
              <a:t>What It Is</a:t>
            </a:r>
          </a:p>
        </p:txBody>
      </p:sp>
      <p:sp>
        <p:nvSpPr>
          <p:cNvPr id="4" name="TextBox 3"/>
          <p:cNvSpPr txBox="1"/>
          <p:nvPr/>
        </p:nvSpPr>
        <p:spPr>
          <a:xfrm>
            <a:off x="548640" y="1005840"/>
            <a:ext cx="10972800" cy="548640"/>
          </a:xfrm>
          <a:prstGeom prst="rect">
            <a:avLst/>
          </a:prstGeom>
          <a:noFill/>
        </p:spPr>
        <p:txBody>
          <a:bodyPr wrap="square">
            <a:spAutoFit/>
          </a:bodyPr>
          <a:lstStyle/>
          <a:p>
            <a:pPr algn="l"/>
            <a:r>
              <a:rPr sz="2200" b="1">
                <a:solidFill>
                  <a:srgbClr val="0A1F44"/>
                </a:solidFill>
                <a:latin typeface="Calibri"/>
              </a:rPr>
              <a:t>A working system, not a slide.</a:t>
            </a:r>
          </a:p>
        </p:txBody>
      </p:sp>
      <p:sp>
        <p:nvSpPr>
          <p:cNvPr id="5" name="TextBox 4"/>
          <p:cNvSpPr txBox="1"/>
          <p:nvPr/>
        </p:nvSpPr>
        <p:spPr>
          <a:xfrm>
            <a:off x="548640" y="1737360"/>
            <a:ext cx="10972800" cy="1828800"/>
          </a:xfrm>
          <a:prstGeom prst="rect">
            <a:avLst/>
          </a:prstGeom>
          <a:noFill/>
        </p:spPr>
        <p:txBody>
          <a:bodyPr wrap="square">
            <a:spAutoFit/>
          </a:bodyPr>
          <a:lstStyle/>
          <a:p>
            <a:pPr algn="l"/>
            <a:r>
              <a:rPr sz="1600" b="0">
                <a:solidFill>
                  <a:srgbClr val="333333"/>
                </a:solidFill>
                <a:latin typeface="Calibri"/>
              </a:rPr>
              <a:t>The Applied Innovation Platform runs 14 specialized AI agents through an 11-stage pipeline to evaluate innovation challenges across three thinking dimensions simultaneously: Future Thinking, Design Thinking, and Systems Thinking.</a:t>
            </a:r>
          </a:p>
          <a:p>
            <a:pPr algn="l"/>
            <a:r>
              <a:rPr sz="1600" b="0">
                <a:solidFill>
                  <a:srgbClr val="333333"/>
                </a:solidFill>
                <a:latin typeface="Calibri"/>
              </a:rPr>
              <a:t/>
            </a:r>
          </a:p>
          <a:p>
            <a:pPr algn="l"/>
            <a:r>
              <a:rPr sz="1600" b="0">
                <a:solidFill>
                  <a:srgbClr val="333333"/>
                </a:solidFill>
                <a:latin typeface="Calibri"/>
              </a:rPr>
              <a:t>The output is a board-ready strategic recommendation, grounded in evidence, with every score traceable to its source.</a:t>
            </a:r>
          </a:p>
        </p:txBody>
      </p:sp>
      <p:sp>
        <p:nvSpPr>
          <p:cNvPr id="6" name="Rectangle 5"/>
          <p:cNvSpPr/>
          <p:nvPr/>
        </p:nvSpPr>
        <p:spPr>
          <a:xfrm>
            <a:off x="548640" y="3931920"/>
            <a:ext cx="3566160" cy="1828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3931920"/>
            <a:ext cx="3566160"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206240"/>
            <a:ext cx="3108960" cy="457200"/>
          </a:xfrm>
          <a:prstGeom prst="rect">
            <a:avLst/>
          </a:prstGeom>
          <a:noFill/>
        </p:spPr>
        <p:txBody>
          <a:bodyPr wrap="square">
            <a:spAutoFit/>
          </a:bodyPr>
          <a:lstStyle/>
          <a:p>
            <a:pPr algn="l"/>
            <a:r>
              <a:rPr sz="1800" b="1">
                <a:solidFill>
                  <a:srgbClr val="0A1F44"/>
                </a:solidFill>
                <a:latin typeface="Calibri"/>
              </a:rPr>
              <a:t>Future Thinking</a:t>
            </a:r>
          </a:p>
        </p:txBody>
      </p:sp>
      <p:sp>
        <p:nvSpPr>
          <p:cNvPr id="9" name="TextBox 8"/>
          <p:cNvSpPr txBox="1"/>
          <p:nvPr/>
        </p:nvSpPr>
        <p:spPr>
          <a:xfrm>
            <a:off x="777240" y="4800600"/>
            <a:ext cx="3108960" cy="914400"/>
          </a:xfrm>
          <a:prstGeom prst="rect">
            <a:avLst/>
          </a:prstGeom>
          <a:noFill/>
        </p:spPr>
        <p:txBody>
          <a:bodyPr wrap="square">
            <a:spAutoFit/>
          </a:bodyPr>
          <a:lstStyle/>
          <a:p>
            <a:pPr algn="l"/>
            <a:r>
              <a:rPr sz="1300" b="0">
                <a:solidFill>
                  <a:srgbClr val="333333"/>
                </a:solidFill>
                <a:latin typeface="Calibri"/>
              </a:rPr>
              <a:t>Trends, signals, scenarios, foresight</a:t>
            </a:r>
          </a:p>
        </p:txBody>
      </p:sp>
      <p:sp>
        <p:nvSpPr>
          <p:cNvPr id="10" name="Rectangle 9"/>
          <p:cNvSpPr/>
          <p:nvPr/>
        </p:nvSpPr>
        <p:spPr>
          <a:xfrm>
            <a:off x="4389120" y="3931920"/>
            <a:ext cx="3566160" cy="1828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3931920"/>
            <a:ext cx="3566160"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4206240"/>
            <a:ext cx="3108960" cy="457200"/>
          </a:xfrm>
          <a:prstGeom prst="rect">
            <a:avLst/>
          </a:prstGeom>
          <a:noFill/>
        </p:spPr>
        <p:txBody>
          <a:bodyPr wrap="square">
            <a:spAutoFit/>
          </a:bodyPr>
          <a:lstStyle/>
          <a:p>
            <a:pPr algn="l"/>
            <a:r>
              <a:rPr sz="1800" b="1">
                <a:solidFill>
                  <a:srgbClr val="0A1F44"/>
                </a:solidFill>
                <a:latin typeface="Calibri"/>
              </a:rPr>
              <a:t>Design Thinking</a:t>
            </a:r>
          </a:p>
        </p:txBody>
      </p:sp>
      <p:sp>
        <p:nvSpPr>
          <p:cNvPr id="13" name="TextBox 12"/>
          <p:cNvSpPr txBox="1"/>
          <p:nvPr/>
        </p:nvSpPr>
        <p:spPr>
          <a:xfrm>
            <a:off x="4617720" y="4800600"/>
            <a:ext cx="3108960" cy="914400"/>
          </a:xfrm>
          <a:prstGeom prst="rect">
            <a:avLst/>
          </a:prstGeom>
          <a:noFill/>
        </p:spPr>
        <p:txBody>
          <a:bodyPr wrap="square">
            <a:spAutoFit/>
          </a:bodyPr>
          <a:lstStyle/>
          <a:p>
            <a:pPr algn="l"/>
            <a:r>
              <a:rPr sz="1300" b="0">
                <a:solidFill>
                  <a:srgbClr val="333333"/>
                </a:solidFill>
                <a:latin typeface="Calibri"/>
              </a:rPr>
              <a:t>Users, journeys, needs, prototyping</a:t>
            </a:r>
          </a:p>
        </p:txBody>
      </p:sp>
      <p:sp>
        <p:nvSpPr>
          <p:cNvPr id="14" name="Rectangle 13"/>
          <p:cNvSpPr/>
          <p:nvPr/>
        </p:nvSpPr>
        <p:spPr>
          <a:xfrm>
            <a:off x="8229600" y="3931920"/>
            <a:ext cx="3566160" cy="1828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3931920"/>
            <a:ext cx="3566160"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4206240"/>
            <a:ext cx="3108960" cy="457200"/>
          </a:xfrm>
          <a:prstGeom prst="rect">
            <a:avLst/>
          </a:prstGeom>
          <a:noFill/>
        </p:spPr>
        <p:txBody>
          <a:bodyPr wrap="square">
            <a:spAutoFit/>
          </a:bodyPr>
          <a:lstStyle/>
          <a:p>
            <a:pPr algn="l"/>
            <a:r>
              <a:rPr sz="1800" b="1">
                <a:solidFill>
                  <a:srgbClr val="0A1F44"/>
                </a:solidFill>
                <a:latin typeface="Calibri"/>
              </a:rPr>
              <a:t>Systems Thinking</a:t>
            </a:r>
          </a:p>
        </p:txBody>
      </p:sp>
      <p:sp>
        <p:nvSpPr>
          <p:cNvPr id="17" name="TextBox 16"/>
          <p:cNvSpPr txBox="1"/>
          <p:nvPr/>
        </p:nvSpPr>
        <p:spPr>
          <a:xfrm>
            <a:off x="8458200" y="4800600"/>
            <a:ext cx="3108960" cy="914400"/>
          </a:xfrm>
          <a:prstGeom prst="rect">
            <a:avLst/>
          </a:prstGeom>
          <a:noFill/>
        </p:spPr>
        <p:txBody>
          <a:bodyPr wrap="square">
            <a:spAutoFit/>
          </a:bodyPr>
          <a:lstStyle/>
          <a:p>
            <a:pPr algn="l"/>
            <a:r>
              <a:rPr sz="1300" b="0">
                <a:solidFill>
                  <a:srgbClr val="333333"/>
                </a:solidFill>
                <a:latin typeface="Calibri"/>
              </a:rPr>
              <a:t>Causal loops, leverage, consequences</a:t>
            </a:r>
          </a:p>
        </p:txBody>
      </p:sp>
      <p:sp>
        <p:nvSpPr>
          <p:cNvPr id="18" name="Rectangle 17"/>
          <p:cNvSpPr/>
          <p:nvPr/>
        </p:nvSpPr>
        <p:spPr>
          <a:xfrm>
            <a:off x="0" y="6537960"/>
            <a:ext cx="12191695" cy="32004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565392"/>
            <a:ext cx="7315200" cy="274320"/>
          </a:xfrm>
          <a:prstGeom prst="rect">
            <a:avLst/>
          </a:prstGeom>
          <a:noFill/>
        </p:spPr>
        <p:txBody>
          <a:bodyPr wrap="square">
            <a:spAutoFit/>
          </a:bodyPr>
          <a:lstStyle/>
          <a:p>
            <a:pPr algn="l"/>
            <a:r>
              <a:rPr sz="1000" b="0">
                <a:solidFill>
                  <a:srgbClr val="FFFFFF"/>
                </a:solidFill>
                <a:latin typeface="Calibri"/>
              </a:rPr>
              <a:t>Applied Innovation Platform  |  Robert Holzer</a:t>
            </a:r>
          </a:p>
        </p:txBody>
      </p:sp>
      <p:sp>
        <p:nvSpPr>
          <p:cNvPr id="20" name="TextBox 19"/>
          <p:cNvSpPr txBox="1"/>
          <p:nvPr/>
        </p:nvSpPr>
        <p:spPr>
          <a:xfrm>
            <a:off x="10515600" y="6565392"/>
            <a:ext cx="1371600" cy="274320"/>
          </a:xfrm>
          <a:prstGeom prst="rect">
            <a:avLst/>
          </a:prstGeom>
          <a:noFill/>
        </p:spPr>
        <p:txBody>
          <a:bodyPr wrap="square">
            <a:spAutoFit/>
          </a:bodyPr>
          <a:lstStyle/>
          <a:p>
            <a:pPr algn="r"/>
            <a:r>
              <a:rPr sz="1000" b="0">
                <a:solidFill>
                  <a:srgbClr val="FFFFFF"/>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2800" b="1">
                <a:solidFill>
                  <a:srgbClr val="FFFFFF"/>
                </a:solidFill>
                <a:latin typeface="Calibri"/>
              </a:rPr>
              <a:t>The Problem It Solves</a:t>
            </a:r>
          </a:p>
        </p:txBody>
      </p:sp>
      <p:sp>
        <p:nvSpPr>
          <p:cNvPr id="4" name="TextBox 3"/>
          <p:cNvSpPr txBox="1"/>
          <p:nvPr/>
        </p:nvSpPr>
        <p:spPr>
          <a:xfrm>
            <a:off x="548640" y="1005840"/>
            <a:ext cx="10972800" cy="548640"/>
          </a:xfrm>
          <a:prstGeom prst="rect">
            <a:avLst/>
          </a:prstGeom>
          <a:noFill/>
        </p:spPr>
        <p:txBody>
          <a:bodyPr wrap="square">
            <a:spAutoFit/>
          </a:bodyPr>
          <a:lstStyle/>
          <a:p>
            <a:pPr algn="l"/>
            <a:r>
              <a:rPr sz="2000" b="1">
                <a:solidFill>
                  <a:srgbClr val="0A1F44"/>
                </a:solidFill>
                <a:latin typeface="Calibri"/>
              </a:rPr>
              <a:t>Innovation decisions are made on partial evidence.</a:t>
            </a:r>
          </a:p>
        </p:txBody>
      </p:sp>
      <p:sp>
        <p:nvSpPr>
          <p:cNvPr id="5" name="TextBox 4"/>
          <p:cNvSpPr txBox="1"/>
          <p:nvPr/>
        </p:nvSpPr>
        <p:spPr>
          <a:xfrm>
            <a:off x="548640" y="1737360"/>
            <a:ext cx="10972800" cy="2743200"/>
          </a:xfrm>
          <a:prstGeom prst="rect">
            <a:avLst/>
          </a:prstGeom>
          <a:noFill/>
        </p:spPr>
        <p:txBody>
          <a:bodyPr wrap="square">
            <a:spAutoFit/>
          </a:bodyPr>
          <a:lstStyle/>
          <a:p>
            <a:pPr algn="l"/>
            <a:r>
              <a:rPr sz="1600" b="0">
                <a:solidFill>
                  <a:srgbClr val="333333"/>
                </a:solidFill>
                <a:latin typeface="Calibri"/>
              </a:rPr>
              <a:t>A product team runs a design sprint and sees user desirability.</a:t>
            </a:r>
          </a:p>
          <a:p>
            <a:pPr algn="l"/>
            <a:r>
              <a:rPr sz="1600" b="0">
                <a:solidFill>
                  <a:srgbClr val="333333"/>
                </a:solidFill>
                <a:latin typeface="Calibri"/>
              </a:rPr>
              <a:t>Strategy runs a market scan and sees competitive risk.</a:t>
            </a:r>
          </a:p>
          <a:p>
            <a:pPr algn="l"/>
            <a:r>
              <a:rPr sz="1600" b="0">
                <a:solidFill>
                  <a:srgbClr val="333333"/>
                </a:solidFill>
                <a:latin typeface="Calibri"/>
              </a:rPr>
              <a:t>Operations runs a feasibility study and sees implementation cost.</a:t>
            </a:r>
          </a:p>
          <a:p>
            <a:pPr algn="l"/>
            <a:r>
              <a:rPr sz="1600" b="0">
                <a:solidFill>
                  <a:srgbClr val="333333"/>
                </a:solidFill>
                <a:latin typeface="Calibri"/>
              </a:rPr>
              <a:t/>
            </a:r>
          </a:p>
          <a:p>
            <a:pPr algn="l"/>
            <a:r>
              <a:rPr sz="1600" b="0">
                <a:solidFill>
                  <a:srgbClr val="333333"/>
                </a:solidFill>
                <a:latin typeface="Calibri"/>
              </a:rPr>
              <a:t>Each is right within its lens. None sees the full picture.</a:t>
            </a:r>
          </a:p>
          <a:p>
            <a:pPr algn="l"/>
            <a:r>
              <a:rPr sz="1600" b="0">
                <a:solidFill>
                  <a:srgbClr val="333333"/>
                </a:solidFill>
                <a:latin typeface="Calibri"/>
              </a:rPr>
              <a:t>The synthesis happens in a meeting where the loudest voice wins.</a:t>
            </a:r>
          </a:p>
        </p:txBody>
      </p:sp>
      <p:sp>
        <p:nvSpPr>
          <p:cNvPr id="6" name="Rectangle 5"/>
          <p:cNvSpPr/>
          <p:nvPr/>
        </p:nvSpPr>
        <p:spPr>
          <a:xfrm>
            <a:off x="548640" y="4846320"/>
            <a:ext cx="11064240" cy="13716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4846320"/>
            <a:ext cx="73152" cy="13716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983480"/>
            <a:ext cx="10789920" cy="365760"/>
          </a:xfrm>
          <a:prstGeom prst="rect">
            <a:avLst/>
          </a:prstGeom>
          <a:noFill/>
        </p:spPr>
        <p:txBody>
          <a:bodyPr wrap="square">
            <a:spAutoFit/>
          </a:bodyPr>
          <a:lstStyle/>
          <a:p>
            <a:pPr algn="l"/>
            <a:r>
              <a:rPr sz="1500" b="1">
                <a:solidFill>
                  <a:srgbClr val="0A1F44"/>
                </a:solidFill>
                <a:latin typeface="Calibri"/>
              </a:rPr>
              <a:t>The result is predictable.</a:t>
            </a:r>
          </a:p>
        </p:txBody>
      </p:sp>
      <p:sp>
        <p:nvSpPr>
          <p:cNvPr id="9" name="TextBox 8"/>
          <p:cNvSpPr txBox="1"/>
          <p:nvPr/>
        </p:nvSpPr>
        <p:spPr>
          <a:xfrm>
            <a:off x="777240" y="5349240"/>
            <a:ext cx="10789920" cy="914400"/>
          </a:xfrm>
          <a:prstGeom prst="rect">
            <a:avLst/>
          </a:prstGeom>
          <a:noFill/>
        </p:spPr>
        <p:txBody>
          <a:bodyPr wrap="square">
            <a:spAutoFit/>
          </a:bodyPr>
          <a:lstStyle/>
          <a:p>
            <a:pPr algn="l"/>
            <a:r>
              <a:rPr sz="1300" b="0">
                <a:solidFill>
                  <a:srgbClr val="333333"/>
                </a:solidFill>
                <a:latin typeface="Calibri"/>
              </a:rPr>
              <a:t>Opportunities that test well in one dimension fail in another. Pilots that satisfy users but break the system. Strategies that win the market but cannot be built. Products that ship but never adapt to a changing future.</a:t>
            </a:r>
          </a:p>
        </p:txBody>
      </p:sp>
      <p:sp>
        <p:nvSpPr>
          <p:cNvPr id="10" name="Rectangle 9"/>
          <p:cNvSpPr/>
          <p:nvPr/>
        </p:nvSpPr>
        <p:spPr>
          <a:xfrm>
            <a:off x="0" y="6537960"/>
            <a:ext cx="12191695" cy="32004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7315200" cy="274320"/>
          </a:xfrm>
          <a:prstGeom prst="rect">
            <a:avLst/>
          </a:prstGeom>
          <a:noFill/>
        </p:spPr>
        <p:txBody>
          <a:bodyPr wrap="square">
            <a:spAutoFit/>
          </a:bodyPr>
          <a:lstStyle/>
          <a:p>
            <a:pPr algn="l"/>
            <a:r>
              <a:rPr sz="1000" b="0">
                <a:solidFill>
                  <a:srgbClr val="FFFFFF"/>
                </a:solidFill>
                <a:latin typeface="Calibri"/>
              </a:rPr>
              <a:t>Applied Innovation Platform  |  Robert Holzer</a:t>
            </a:r>
          </a:p>
        </p:txBody>
      </p:sp>
      <p:sp>
        <p:nvSpPr>
          <p:cNvPr id="12" name="TextBox 11"/>
          <p:cNvSpPr txBox="1"/>
          <p:nvPr/>
        </p:nvSpPr>
        <p:spPr>
          <a:xfrm>
            <a:off x="10515600" y="6565392"/>
            <a:ext cx="1371600" cy="274320"/>
          </a:xfrm>
          <a:prstGeom prst="rect">
            <a:avLst/>
          </a:prstGeom>
          <a:noFill/>
        </p:spPr>
        <p:txBody>
          <a:bodyPr wrap="square">
            <a:spAutoFit/>
          </a:bodyPr>
          <a:lstStyle/>
          <a:p>
            <a:pPr algn="r"/>
            <a:r>
              <a:rPr sz="1000" b="0">
                <a:solidFill>
                  <a:srgbClr val="FFFFFF"/>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2800" b="1">
                <a:solidFill>
                  <a:srgbClr val="FFFFFF"/>
                </a:solidFill>
                <a:latin typeface="Calibri"/>
              </a:rPr>
              <a:t>How It Works: 14 Agents, 6 Tiers</a:t>
            </a:r>
          </a:p>
        </p:txBody>
      </p:sp>
      <p:sp>
        <p:nvSpPr>
          <p:cNvPr id="4" name="Rectangle 3"/>
          <p:cNvSpPr/>
          <p:nvPr/>
        </p:nvSpPr>
        <p:spPr>
          <a:xfrm>
            <a:off x="457200" y="1005840"/>
            <a:ext cx="11247120" cy="777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73152" cy="7772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70432"/>
            <a:ext cx="2743200" cy="457200"/>
          </a:xfrm>
          <a:prstGeom prst="rect">
            <a:avLst/>
          </a:prstGeom>
          <a:noFill/>
        </p:spPr>
        <p:txBody>
          <a:bodyPr wrap="square">
            <a:spAutoFit/>
          </a:bodyPr>
          <a:lstStyle/>
          <a:p>
            <a:pPr algn="l"/>
            <a:r>
              <a:rPr sz="1200" b="1">
                <a:solidFill>
                  <a:srgbClr val="0A1F44"/>
                </a:solidFill>
                <a:latin typeface="Calibri"/>
              </a:rPr>
              <a:t>Tier 1 - Client Interface</a:t>
            </a:r>
          </a:p>
        </p:txBody>
      </p:sp>
      <p:sp>
        <p:nvSpPr>
          <p:cNvPr id="7" name="TextBox 6"/>
          <p:cNvSpPr txBox="1"/>
          <p:nvPr/>
        </p:nvSpPr>
        <p:spPr>
          <a:xfrm>
            <a:off x="3520440" y="1170432"/>
            <a:ext cx="3200400" cy="457200"/>
          </a:xfrm>
          <a:prstGeom prst="rect">
            <a:avLst/>
          </a:prstGeom>
          <a:noFill/>
        </p:spPr>
        <p:txBody>
          <a:bodyPr wrap="square">
            <a:spAutoFit/>
          </a:bodyPr>
          <a:lstStyle/>
          <a:p>
            <a:pPr algn="l"/>
            <a:r>
              <a:rPr sz="1200" b="1">
                <a:solidFill>
                  <a:srgbClr val="333333"/>
                </a:solidFill>
                <a:latin typeface="Calibri"/>
              </a:rPr>
              <a:t>Navigator, Publisher</a:t>
            </a:r>
          </a:p>
        </p:txBody>
      </p:sp>
      <p:sp>
        <p:nvSpPr>
          <p:cNvPr id="8" name="TextBox 7"/>
          <p:cNvSpPr txBox="1"/>
          <p:nvPr/>
        </p:nvSpPr>
        <p:spPr>
          <a:xfrm>
            <a:off x="6858000" y="1170432"/>
            <a:ext cx="4754880" cy="457200"/>
          </a:xfrm>
          <a:prstGeom prst="rect">
            <a:avLst/>
          </a:prstGeom>
          <a:noFill/>
        </p:spPr>
        <p:txBody>
          <a:bodyPr wrap="square">
            <a:spAutoFit/>
          </a:bodyPr>
          <a:lstStyle/>
          <a:p>
            <a:pPr algn="l"/>
            <a:r>
              <a:rPr sz="1200" b="0">
                <a:solidFill>
                  <a:srgbClr val="333333"/>
                </a:solidFill>
                <a:latin typeface="Calibri"/>
              </a:rPr>
              <a:t>Engagement intake and final deliverables</a:t>
            </a:r>
          </a:p>
        </p:txBody>
      </p:sp>
      <p:sp>
        <p:nvSpPr>
          <p:cNvPr id="9" name="Rectangle 8"/>
          <p:cNvSpPr/>
          <p:nvPr/>
        </p:nvSpPr>
        <p:spPr>
          <a:xfrm>
            <a:off x="457200" y="1783080"/>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783080"/>
            <a:ext cx="73152" cy="7772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47672"/>
            <a:ext cx="2743200" cy="457200"/>
          </a:xfrm>
          <a:prstGeom prst="rect">
            <a:avLst/>
          </a:prstGeom>
          <a:noFill/>
        </p:spPr>
        <p:txBody>
          <a:bodyPr wrap="square">
            <a:spAutoFit/>
          </a:bodyPr>
          <a:lstStyle/>
          <a:p>
            <a:pPr algn="l"/>
            <a:r>
              <a:rPr sz="1200" b="1">
                <a:solidFill>
                  <a:srgbClr val="0A1F44"/>
                </a:solidFill>
                <a:latin typeface="Calibri"/>
              </a:rPr>
              <a:t>Tier 2 - Core Thinking</a:t>
            </a:r>
          </a:p>
        </p:txBody>
      </p:sp>
      <p:sp>
        <p:nvSpPr>
          <p:cNvPr id="12" name="TextBox 11"/>
          <p:cNvSpPr txBox="1"/>
          <p:nvPr/>
        </p:nvSpPr>
        <p:spPr>
          <a:xfrm>
            <a:off x="3520440" y="1947672"/>
            <a:ext cx="3200400" cy="457200"/>
          </a:xfrm>
          <a:prstGeom prst="rect">
            <a:avLst/>
          </a:prstGeom>
          <a:noFill/>
        </p:spPr>
        <p:txBody>
          <a:bodyPr wrap="square">
            <a:spAutoFit/>
          </a:bodyPr>
          <a:lstStyle/>
          <a:p>
            <a:pPr algn="l"/>
            <a:r>
              <a:rPr sz="1200" b="1">
                <a:solidFill>
                  <a:srgbClr val="333333"/>
                </a:solidFill>
                <a:latin typeface="Calibri"/>
              </a:rPr>
              <a:t>Scout, Empathy, Architect</a:t>
            </a:r>
          </a:p>
        </p:txBody>
      </p:sp>
      <p:sp>
        <p:nvSpPr>
          <p:cNvPr id="13" name="TextBox 12"/>
          <p:cNvSpPr txBox="1"/>
          <p:nvPr/>
        </p:nvSpPr>
        <p:spPr>
          <a:xfrm>
            <a:off x="6858000" y="1947672"/>
            <a:ext cx="4754880" cy="457200"/>
          </a:xfrm>
          <a:prstGeom prst="rect">
            <a:avLst/>
          </a:prstGeom>
          <a:noFill/>
        </p:spPr>
        <p:txBody>
          <a:bodyPr wrap="square">
            <a:spAutoFit/>
          </a:bodyPr>
          <a:lstStyle/>
          <a:p>
            <a:pPr algn="l"/>
            <a:r>
              <a:rPr sz="1200" b="0">
                <a:solidFill>
                  <a:srgbClr val="333333"/>
                </a:solidFill>
                <a:latin typeface="Calibri"/>
              </a:rPr>
              <a:t>Future, Design, and Systems lenses (parallel)</a:t>
            </a:r>
          </a:p>
        </p:txBody>
      </p:sp>
      <p:sp>
        <p:nvSpPr>
          <p:cNvPr id="14" name="Rectangle 13"/>
          <p:cNvSpPr/>
          <p:nvPr/>
        </p:nvSpPr>
        <p:spPr>
          <a:xfrm>
            <a:off x="457200" y="2560320"/>
            <a:ext cx="11247120" cy="777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560320"/>
            <a:ext cx="73152" cy="7772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724912"/>
            <a:ext cx="2743200" cy="457200"/>
          </a:xfrm>
          <a:prstGeom prst="rect">
            <a:avLst/>
          </a:prstGeom>
          <a:noFill/>
        </p:spPr>
        <p:txBody>
          <a:bodyPr wrap="square">
            <a:spAutoFit/>
          </a:bodyPr>
          <a:lstStyle/>
          <a:p>
            <a:pPr algn="l"/>
            <a:r>
              <a:rPr sz="1200" b="1">
                <a:solidFill>
                  <a:srgbClr val="0A1F44"/>
                </a:solidFill>
                <a:latin typeface="Calibri"/>
              </a:rPr>
              <a:t>Tier 3 - Intersection</a:t>
            </a:r>
          </a:p>
        </p:txBody>
      </p:sp>
      <p:sp>
        <p:nvSpPr>
          <p:cNvPr id="17" name="TextBox 16"/>
          <p:cNvSpPr txBox="1"/>
          <p:nvPr/>
        </p:nvSpPr>
        <p:spPr>
          <a:xfrm>
            <a:off x="3520440" y="2724912"/>
            <a:ext cx="3200400" cy="457200"/>
          </a:xfrm>
          <a:prstGeom prst="rect">
            <a:avLst/>
          </a:prstGeom>
          <a:noFill/>
        </p:spPr>
        <p:txBody>
          <a:bodyPr wrap="square">
            <a:spAutoFit/>
          </a:bodyPr>
          <a:lstStyle/>
          <a:p>
            <a:pPr algn="l"/>
            <a:r>
              <a:rPr sz="1200" b="1">
                <a:solidFill>
                  <a:srgbClr val="333333"/>
                </a:solidFill>
                <a:latin typeface="Calibri"/>
              </a:rPr>
              <a:t>Visionary, Integrator, Sentinel</a:t>
            </a:r>
          </a:p>
        </p:txBody>
      </p:sp>
      <p:sp>
        <p:nvSpPr>
          <p:cNvPr id="18" name="TextBox 17"/>
          <p:cNvSpPr txBox="1"/>
          <p:nvPr/>
        </p:nvSpPr>
        <p:spPr>
          <a:xfrm>
            <a:off x="6858000" y="2724912"/>
            <a:ext cx="4754880" cy="457200"/>
          </a:xfrm>
          <a:prstGeom prst="rect">
            <a:avLst/>
          </a:prstGeom>
          <a:noFill/>
        </p:spPr>
        <p:txBody>
          <a:bodyPr wrap="square">
            <a:spAutoFit/>
          </a:bodyPr>
          <a:lstStyle/>
          <a:p>
            <a:pPr algn="l"/>
            <a:r>
              <a:rPr sz="1200" b="0">
                <a:solidFill>
                  <a:srgbClr val="333333"/>
                </a:solidFill>
                <a:latin typeface="Calibri"/>
              </a:rPr>
              <a:t>Synthesis where the three lenses overlap</a:t>
            </a:r>
          </a:p>
        </p:txBody>
      </p:sp>
      <p:sp>
        <p:nvSpPr>
          <p:cNvPr id="19" name="Rectangle 18"/>
          <p:cNvSpPr/>
          <p:nvPr/>
        </p:nvSpPr>
        <p:spPr>
          <a:xfrm>
            <a:off x="457200" y="3337560"/>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337560"/>
            <a:ext cx="73152" cy="7772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502152"/>
            <a:ext cx="2743200" cy="457200"/>
          </a:xfrm>
          <a:prstGeom prst="rect">
            <a:avLst/>
          </a:prstGeom>
          <a:noFill/>
        </p:spPr>
        <p:txBody>
          <a:bodyPr wrap="square">
            <a:spAutoFit/>
          </a:bodyPr>
          <a:lstStyle/>
          <a:p>
            <a:pPr algn="l"/>
            <a:r>
              <a:rPr sz="1200" b="1">
                <a:solidFill>
                  <a:srgbClr val="0A1F44"/>
                </a:solidFill>
                <a:latin typeface="Calibri"/>
              </a:rPr>
              <a:t>Tier 4 - Operational</a:t>
            </a:r>
          </a:p>
        </p:txBody>
      </p:sp>
      <p:sp>
        <p:nvSpPr>
          <p:cNvPr id="22" name="TextBox 21"/>
          <p:cNvSpPr txBox="1"/>
          <p:nvPr/>
        </p:nvSpPr>
        <p:spPr>
          <a:xfrm>
            <a:off x="3520440" y="3502152"/>
            <a:ext cx="3200400" cy="457200"/>
          </a:xfrm>
          <a:prstGeom prst="rect">
            <a:avLst/>
          </a:prstGeom>
          <a:noFill/>
        </p:spPr>
        <p:txBody>
          <a:bodyPr wrap="square">
            <a:spAutoFit/>
          </a:bodyPr>
          <a:lstStyle/>
          <a:p>
            <a:pPr algn="l"/>
            <a:r>
              <a:rPr sz="1200" b="1">
                <a:solidFill>
                  <a:srgbClr val="333333"/>
                </a:solidFill>
                <a:latin typeface="Calibri"/>
              </a:rPr>
              <a:t>Radar, Banker, Scorekeeper, Bridge</a:t>
            </a:r>
          </a:p>
        </p:txBody>
      </p:sp>
      <p:sp>
        <p:nvSpPr>
          <p:cNvPr id="23" name="TextBox 22"/>
          <p:cNvSpPr txBox="1"/>
          <p:nvPr/>
        </p:nvSpPr>
        <p:spPr>
          <a:xfrm>
            <a:off x="6858000" y="3502152"/>
            <a:ext cx="4754880" cy="457200"/>
          </a:xfrm>
          <a:prstGeom prst="rect">
            <a:avLst/>
          </a:prstGeom>
          <a:noFill/>
        </p:spPr>
        <p:txBody>
          <a:bodyPr wrap="square">
            <a:spAutoFit/>
          </a:bodyPr>
          <a:lstStyle/>
          <a:p>
            <a:pPr algn="l"/>
            <a:r>
              <a:rPr sz="1200" b="0">
                <a:solidFill>
                  <a:srgbClr val="333333"/>
                </a:solidFill>
                <a:latin typeface="Calibri"/>
              </a:rPr>
              <a:t>Market, portfolio, scoring, change readiness</a:t>
            </a:r>
          </a:p>
        </p:txBody>
      </p:sp>
      <p:sp>
        <p:nvSpPr>
          <p:cNvPr id="24" name="Rectangle 23"/>
          <p:cNvSpPr/>
          <p:nvPr/>
        </p:nvSpPr>
        <p:spPr>
          <a:xfrm>
            <a:off x="457200" y="4114800"/>
            <a:ext cx="11247120" cy="777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114800"/>
            <a:ext cx="73152" cy="7772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79392"/>
            <a:ext cx="2743200" cy="457200"/>
          </a:xfrm>
          <a:prstGeom prst="rect">
            <a:avLst/>
          </a:prstGeom>
          <a:noFill/>
        </p:spPr>
        <p:txBody>
          <a:bodyPr wrap="square">
            <a:spAutoFit/>
          </a:bodyPr>
          <a:lstStyle/>
          <a:p>
            <a:pPr algn="l"/>
            <a:r>
              <a:rPr sz="1200" b="1">
                <a:solidFill>
                  <a:srgbClr val="0A1F44"/>
                </a:solidFill>
                <a:latin typeface="Calibri"/>
              </a:rPr>
              <a:t>Tier 4.5 - Quality</a:t>
            </a:r>
          </a:p>
        </p:txBody>
      </p:sp>
      <p:sp>
        <p:nvSpPr>
          <p:cNvPr id="27" name="TextBox 26"/>
          <p:cNvSpPr txBox="1"/>
          <p:nvPr/>
        </p:nvSpPr>
        <p:spPr>
          <a:xfrm>
            <a:off x="3520440" y="4279392"/>
            <a:ext cx="3200400" cy="457200"/>
          </a:xfrm>
          <a:prstGeom prst="rect">
            <a:avLst/>
          </a:prstGeom>
          <a:noFill/>
        </p:spPr>
        <p:txBody>
          <a:bodyPr wrap="square">
            <a:spAutoFit/>
          </a:bodyPr>
          <a:lstStyle/>
          <a:p>
            <a:pPr algn="l"/>
            <a:r>
              <a:rPr sz="1200" b="1">
                <a:solidFill>
                  <a:srgbClr val="333333"/>
                </a:solidFill>
                <a:latin typeface="Calibri"/>
              </a:rPr>
              <a:t>Critic</a:t>
            </a:r>
          </a:p>
        </p:txBody>
      </p:sp>
      <p:sp>
        <p:nvSpPr>
          <p:cNvPr id="28" name="TextBox 27"/>
          <p:cNvSpPr txBox="1"/>
          <p:nvPr/>
        </p:nvSpPr>
        <p:spPr>
          <a:xfrm>
            <a:off x="6858000" y="4279392"/>
            <a:ext cx="4754880" cy="457200"/>
          </a:xfrm>
          <a:prstGeom prst="rect">
            <a:avLst/>
          </a:prstGeom>
          <a:noFill/>
        </p:spPr>
        <p:txBody>
          <a:bodyPr wrap="square">
            <a:spAutoFit/>
          </a:bodyPr>
          <a:lstStyle/>
          <a:p>
            <a:pPr algn="l"/>
            <a:r>
              <a:rPr sz="1200" b="0">
                <a:solidFill>
                  <a:srgbClr val="333333"/>
                </a:solidFill>
                <a:latin typeface="Calibri"/>
              </a:rPr>
              <a:t>Independent evaluation between every tier</a:t>
            </a:r>
          </a:p>
        </p:txBody>
      </p:sp>
      <p:sp>
        <p:nvSpPr>
          <p:cNvPr id="29" name="Rectangle 28"/>
          <p:cNvSpPr/>
          <p:nvPr/>
        </p:nvSpPr>
        <p:spPr>
          <a:xfrm>
            <a:off x="457200" y="4892040"/>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892040"/>
            <a:ext cx="73152" cy="7772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056632"/>
            <a:ext cx="2743200" cy="457200"/>
          </a:xfrm>
          <a:prstGeom prst="rect">
            <a:avLst/>
          </a:prstGeom>
          <a:noFill/>
        </p:spPr>
        <p:txBody>
          <a:bodyPr wrap="square">
            <a:spAutoFit/>
          </a:bodyPr>
          <a:lstStyle/>
          <a:p>
            <a:pPr algn="l"/>
            <a:r>
              <a:rPr sz="1200" b="1">
                <a:solidFill>
                  <a:srgbClr val="0A1F44"/>
                </a:solidFill>
                <a:latin typeface="Calibri"/>
              </a:rPr>
              <a:t>Tier 5 - Orchestration</a:t>
            </a:r>
          </a:p>
        </p:txBody>
      </p:sp>
      <p:sp>
        <p:nvSpPr>
          <p:cNvPr id="32" name="TextBox 31"/>
          <p:cNvSpPr txBox="1"/>
          <p:nvPr/>
        </p:nvSpPr>
        <p:spPr>
          <a:xfrm>
            <a:off x="3520440" y="5056632"/>
            <a:ext cx="3200400" cy="457200"/>
          </a:xfrm>
          <a:prstGeom prst="rect">
            <a:avLst/>
          </a:prstGeom>
          <a:noFill/>
        </p:spPr>
        <p:txBody>
          <a:bodyPr wrap="square">
            <a:spAutoFit/>
          </a:bodyPr>
          <a:lstStyle/>
          <a:p>
            <a:pPr algn="l"/>
            <a:r>
              <a:rPr sz="1200" b="1">
                <a:solidFill>
                  <a:srgbClr val="333333"/>
                </a:solidFill>
                <a:latin typeface="Calibri"/>
              </a:rPr>
              <a:t>Conductor</a:t>
            </a:r>
          </a:p>
        </p:txBody>
      </p:sp>
      <p:sp>
        <p:nvSpPr>
          <p:cNvPr id="33" name="TextBox 32"/>
          <p:cNvSpPr txBox="1"/>
          <p:nvPr/>
        </p:nvSpPr>
        <p:spPr>
          <a:xfrm>
            <a:off x="6858000" y="5056632"/>
            <a:ext cx="4754880" cy="457200"/>
          </a:xfrm>
          <a:prstGeom prst="rect">
            <a:avLst/>
          </a:prstGeom>
          <a:noFill/>
        </p:spPr>
        <p:txBody>
          <a:bodyPr wrap="square">
            <a:spAutoFit/>
          </a:bodyPr>
          <a:lstStyle/>
          <a:p>
            <a:pPr algn="l"/>
            <a:r>
              <a:rPr sz="1200" b="0">
                <a:solidFill>
                  <a:srgbClr val="333333"/>
                </a:solidFill>
                <a:latin typeface="Calibri"/>
              </a:rPr>
              <a:t>Cross-agent synthesis and conflict resolution</a:t>
            </a:r>
          </a:p>
        </p:txBody>
      </p:sp>
      <p:sp>
        <p:nvSpPr>
          <p:cNvPr id="34" name="TextBox 33"/>
          <p:cNvSpPr txBox="1"/>
          <p:nvPr/>
        </p:nvSpPr>
        <p:spPr>
          <a:xfrm>
            <a:off x="548640" y="5852160"/>
            <a:ext cx="10972800" cy="365760"/>
          </a:xfrm>
          <a:prstGeom prst="rect">
            <a:avLst/>
          </a:prstGeom>
          <a:noFill/>
        </p:spPr>
        <p:txBody>
          <a:bodyPr wrap="square">
            <a:spAutoFit/>
          </a:bodyPr>
          <a:lstStyle/>
          <a:p>
            <a:pPr algn="l"/>
            <a:r>
              <a:rPr sz="1300" b="1">
                <a:solidFill>
                  <a:srgbClr val="2E86AB"/>
                </a:solidFill>
                <a:latin typeface="Calibri"/>
              </a:rPr>
              <a:t>Every agent is a transparent specification. No black boxes, no hidden prompts.</a:t>
            </a:r>
          </a:p>
        </p:txBody>
      </p:sp>
      <p:sp>
        <p:nvSpPr>
          <p:cNvPr id="35" name="Rectangle 34"/>
          <p:cNvSpPr/>
          <p:nvPr/>
        </p:nvSpPr>
        <p:spPr>
          <a:xfrm>
            <a:off x="0" y="6537960"/>
            <a:ext cx="12191695" cy="32004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6565392"/>
            <a:ext cx="7315200" cy="274320"/>
          </a:xfrm>
          <a:prstGeom prst="rect">
            <a:avLst/>
          </a:prstGeom>
          <a:noFill/>
        </p:spPr>
        <p:txBody>
          <a:bodyPr wrap="square">
            <a:spAutoFit/>
          </a:bodyPr>
          <a:lstStyle/>
          <a:p>
            <a:pPr algn="l"/>
            <a:r>
              <a:rPr sz="1000" b="0">
                <a:solidFill>
                  <a:srgbClr val="FFFFFF"/>
                </a:solidFill>
                <a:latin typeface="Calibri"/>
              </a:rPr>
              <a:t>Applied Innovation Platform  |  Robert Holzer</a:t>
            </a:r>
          </a:p>
        </p:txBody>
      </p:sp>
      <p:sp>
        <p:nvSpPr>
          <p:cNvPr id="37" name="TextBox 36"/>
          <p:cNvSpPr txBox="1"/>
          <p:nvPr/>
        </p:nvSpPr>
        <p:spPr>
          <a:xfrm>
            <a:off x="10515600" y="6565392"/>
            <a:ext cx="1371600" cy="274320"/>
          </a:xfrm>
          <a:prstGeom prst="rect">
            <a:avLst/>
          </a:prstGeom>
          <a:noFill/>
        </p:spPr>
        <p:txBody>
          <a:bodyPr wrap="square">
            <a:spAutoFit/>
          </a:bodyPr>
          <a:lstStyle/>
          <a:p>
            <a:pPr algn="r"/>
            <a:r>
              <a:rPr sz="1000" b="0">
                <a:solidFill>
                  <a:srgbClr val="FFFFFF"/>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2800" b="1">
                <a:solidFill>
                  <a:srgbClr val="FFFFFF"/>
                </a:solidFill>
                <a:latin typeface="Calibri"/>
              </a:rPr>
              <a:t>Three Modes for Three Decision Contexts</a:t>
            </a:r>
          </a:p>
        </p:txBody>
      </p:sp>
      <p:sp>
        <p:nvSpPr>
          <p:cNvPr id="4" name="Rectangle 3"/>
          <p:cNvSpPr/>
          <p:nvPr/>
        </p:nvSpPr>
        <p:spPr>
          <a:xfrm>
            <a:off x="502920" y="1188720"/>
            <a:ext cx="365760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88720"/>
            <a:ext cx="3657600" cy="64008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53312"/>
            <a:ext cx="3200400" cy="457200"/>
          </a:xfrm>
          <a:prstGeom prst="rect">
            <a:avLst/>
          </a:prstGeom>
          <a:noFill/>
        </p:spPr>
        <p:txBody>
          <a:bodyPr wrap="square">
            <a:spAutoFit/>
          </a:bodyPr>
          <a:lstStyle/>
          <a:p>
            <a:pPr algn="l"/>
            <a:r>
              <a:rPr sz="1800" b="1">
                <a:solidFill>
                  <a:srgbClr val="FFFFFF"/>
                </a:solidFill>
                <a:latin typeface="Calibri"/>
              </a:rPr>
              <a:t>Quick Scan</a:t>
            </a:r>
          </a:p>
        </p:txBody>
      </p:sp>
      <p:sp>
        <p:nvSpPr>
          <p:cNvPr id="7" name="TextBox 6"/>
          <p:cNvSpPr txBox="1"/>
          <p:nvPr/>
        </p:nvSpPr>
        <p:spPr>
          <a:xfrm>
            <a:off x="731520" y="2103120"/>
            <a:ext cx="3200400" cy="457200"/>
          </a:xfrm>
          <a:prstGeom prst="rect">
            <a:avLst/>
          </a:prstGeom>
          <a:noFill/>
        </p:spPr>
        <p:txBody>
          <a:bodyPr wrap="square">
            <a:spAutoFit/>
          </a:bodyPr>
          <a:lstStyle/>
          <a:p>
            <a:pPr algn="l"/>
            <a:r>
              <a:rPr sz="1400" b="1">
                <a:solidFill>
                  <a:srgbClr val="2E86AB"/>
                </a:solidFill>
                <a:latin typeface="Calibri"/>
              </a:rPr>
              <a:t>1 session</a:t>
            </a:r>
          </a:p>
        </p:txBody>
      </p:sp>
      <p:sp>
        <p:nvSpPr>
          <p:cNvPr id="8" name="TextBox 7"/>
          <p:cNvSpPr txBox="1"/>
          <p:nvPr/>
        </p:nvSpPr>
        <p:spPr>
          <a:xfrm>
            <a:off x="731520" y="2560320"/>
            <a:ext cx="3200400" cy="457200"/>
          </a:xfrm>
          <a:prstGeom prst="rect">
            <a:avLst/>
          </a:prstGeom>
          <a:noFill/>
        </p:spPr>
        <p:txBody>
          <a:bodyPr wrap="square">
            <a:spAutoFit/>
          </a:bodyPr>
          <a:lstStyle/>
          <a:p>
            <a:pPr algn="l"/>
            <a:r>
              <a:rPr sz="1400" b="1">
                <a:solidFill>
                  <a:srgbClr val="333333"/>
                </a:solidFill>
                <a:latin typeface="Calibri"/>
              </a:rPr>
              <a:t>2-3 agents</a:t>
            </a:r>
          </a:p>
        </p:txBody>
      </p:sp>
      <p:sp>
        <p:nvSpPr>
          <p:cNvPr id="9" name="TextBox 8"/>
          <p:cNvSpPr txBox="1"/>
          <p:nvPr/>
        </p:nvSpPr>
        <p:spPr>
          <a:xfrm>
            <a:off x="731520" y="3291840"/>
            <a:ext cx="3200400" cy="1828800"/>
          </a:xfrm>
          <a:prstGeom prst="rect">
            <a:avLst/>
          </a:prstGeom>
          <a:noFill/>
        </p:spPr>
        <p:txBody>
          <a:bodyPr wrap="square">
            <a:spAutoFit/>
          </a:bodyPr>
          <a:lstStyle/>
          <a:p>
            <a:pPr algn="l"/>
            <a:r>
              <a:rPr sz="1300" b="0">
                <a:solidFill>
                  <a:srgbClr val="333333"/>
                </a:solidFill>
                <a:latin typeface="Calibri"/>
              </a:rPr>
              <a:t>Rapid orientation on a single question</a:t>
            </a:r>
          </a:p>
        </p:txBody>
      </p:sp>
      <p:sp>
        <p:nvSpPr>
          <p:cNvPr id="10" name="Rectangle 9"/>
          <p:cNvSpPr/>
          <p:nvPr/>
        </p:nvSpPr>
        <p:spPr>
          <a:xfrm>
            <a:off x="4389120" y="1188720"/>
            <a:ext cx="365760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188720"/>
            <a:ext cx="3657600" cy="64008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353312"/>
            <a:ext cx="3200400" cy="457200"/>
          </a:xfrm>
          <a:prstGeom prst="rect">
            <a:avLst/>
          </a:prstGeom>
          <a:noFill/>
        </p:spPr>
        <p:txBody>
          <a:bodyPr wrap="square">
            <a:spAutoFit/>
          </a:bodyPr>
          <a:lstStyle/>
          <a:p>
            <a:pPr algn="l"/>
            <a:r>
              <a:rPr sz="1800" b="1">
                <a:solidFill>
                  <a:srgbClr val="FFFFFF"/>
                </a:solidFill>
                <a:latin typeface="Calibri"/>
              </a:rPr>
              <a:t>Standard</a:t>
            </a:r>
          </a:p>
        </p:txBody>
      </p:sp>
      <p:sp>
        <p:nvSpPr>
          <p:cNvPr id="13" name="TextBox 12"/>
          <p:cNvSpPr txBox="1"/>
          <p:nvPr/>
        </p:nvSpPr>
        <p:spPr>
          <a:xfrm>
            <a:off x="4617720" y="2103120"/>
            <a:ext cx="3200400" cy="457200"/>
          </a:xfrm>
          <a:prstGeom prst="rect">
            <a:avLst/>
          </a:prstGeom>
          <a:noFill/>
        </p:spPr>
        <p:txBody>
          <a:bodyPr wrap="square">
            <a:spAutoFit/>
          </a:bodyPr>
          <a:lstStyle/>
          <a:p>
            <a:pPr algn="l"/>
            <a:r>
              <a:rPr sz="1400" b="1">
                <a:solidFill>
                  <a:srgbClr val="2E86AB"/>
                </a:solidFill>
                <a:latin typeface="Calibri"/>
              </a:rPr>
              <a:t>2 sessions</a:t>
            </a:r>
          </a:p>
        </p:txBody>
      </p:sp>
      <p:sp>
        <p:nvSpPr>
          <p:cNvPr id="14" name="TextBox 13"/>
          <p:cNvSpPr txBox="1"/>
          <p:nvPr/>
        </p:nvSpPr>
        <p:spPr>
          <a:xfrm>
            <a:off x="4617720" y="2560320"/>
            <a:ext cx="3200400" cy="457200"/>
          </a:xfrm>
          <a:prstGeom prst="rect">
            <a:avLst/>
          </a:prstGeom>
          <a:noFill/>
        </p:spPr>
        <p:txBody>
          <a:bodyPr wrap="square">
            <a:spAutoFit/>
          </a:bodyPr>
          <a:lstStyle/>
          <a:p>
            <a:pPr algn="l"/>
            <a:r>
              <a:rPr sz="1400" b="1">
                <a:solidFill>
                  <a:srgbClr val="333333"/>
                </a:solidFill>
                <a:latin typeface="Calibri"/>
              </a:rPr>
              <a:t>6-8 agents</a:t>
            </a:r>
          </a:p>
        </p:txBody>
      </p:sp>
      <p:sp>
        <p:nvSpPr>
          <p:cNvPr id="15" name="TextBox 14"/>
          <p:cNvSpPr txBox="1"/>
          <p:nvPr/>
        </p:nvSpPr>
        <p:spPr>
          <a:xfrm>
            <a:off x="4617720" y="3291840"/>
            <a:ext cx="3200400" cy="1828800"/>
          </a:xfrm>
          <a:prstGeom prst="rect">
            <a:avLst/>
          </a:prstGeom>
          <a:noFill/>
        </p:spPr>
        <p:txBody>
          <a:bodyPr wrap="square">
            <a:spAutoFit/>
          </a:bodyPr>
          <a:lstStyle/>
          <a:p>
            <a:pPr algn="l"/>
            <a:r>
              <a:rPr sz="1300" b="0">
                <a:solidFill>
                  <a:srgbClr val="333333"/>
                </a:solidFill>
                <a:latin typeface="Calibri"/>
              </a:rPr>
              <a:t>Full multi-dimensional assessment</a:t>
            </a:r>
          </a:p>
        </p:txBody>
      </p:sp>
      <p:sp>
        <p:nvSpPr>
          <p:cNvPr id="16" name="Rectangle 15"/>
          <p:cNvSpPr/>
          <p:nvPr/>
        </p:nvSpPr>
        <p:spPr>
          <a:xfrm>
            <a:off x="8275320" y="1188720"/>
            <a:ext cx="365760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20" y="1188720"/>
            <a:ext cx="3657600" cy="64008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1353312"/>
            <a:ext cx="3200400" cy="457200"/>
          </a:xfrm>
          <a:prstGeom prst="rect">
            <a:avLst/>
          </a:prstGeom>
          <a:noFill/>
        </p:spPr>
        <p:txBody>
          <a:bodyPr wrap="square">
            <a:spAutoFit/>
          </a:bodyPr>
          <a:lstStyle/>
          <a:p>
            <a:pPr algn="l"/>
            <a:r>
              <a:rPr sz="1800" b="1">
                <a:solidFill>
                  <a:srgbClr val="FFFFFF"/>
                </a:solidFill>
                <a:latin typeface="Calibri"/>
              </a:rPr>
              <a:t>Deep Dive</a:t>
            </a:r>
          </a:p>
        </p:txBody>
      </p:sp>
      <p:sp>
        <p:nvSpPr>
          <p:cNvPr id="19" name="TextBox 18"/>
          <p:cNvSpPr txBox="1"/>
          <p:nvPr/>
        </p:nvSpPr>
        <p:spPr>
          <a:xfrm>
            <a:off x="8503920" y="2103120"/>
            <a:ext cx="3200400" cy="457200"/>
          </a:xfrm>
          <a:prstGeom prst="rect">
            <a:avLst/>
          </a:prstGeom>
          <a:noFill/>
        </p:spPr>
        <p:txBody>
          <a:bodyPr wrap="square">
            <a:spAutoFit/>
          </a:bodyPr>
          <a:lstStyle/>
          <a:p>
            <a:pPr algn="l"/>
            <a:r>
              <a:rPr sz="1400" b="1">
                <a:solidFill>
                  <a:srgbClr val="2E86AB"/>
                </a:solidFill>
                <a:latin typeface="Calibri"/>
              </a:rPr>
              <a:t>4 sessions</a:t>
            </a:r>
          </a:p>
        </p:txBody>
      </p:sp>
      <p:sp>
        <p:nvSpPr>
          <p:cNvPr id="20" name="TextBox 19"/>
          <p:cNvSpPr txBox="1"/>
          <p:nvPr/>
        </p:nvSpPr>
        <p:spPr>
          <a:xfrm>
            <a:off x="8503920" y="2560320"/>
            <a:ext cx="3200400" cy="457200"/>
          </a:xfrm>
          <a:prstGeom prst="rect">
            <a:avLst/>
          </a:prstGeom>
          <a:noFill/>
        </p:spPr>
        <p:txBody>
          <a:bodyPr wrap="square">
            <a:spAutoFit/>
          </a:bodyPr>
          <a:lstStyle/>
          <a:p>
            <a:pPr algn="l"/>
            <a:r>
              <a:rPr sz="1400" b="1">
                <a:solidFill>
                  <a:srgbClr val="333333"/>
                </a:solidFill>
                <a:latin typeface="Calibri"/>
              </a:rPr>
              <a:t>All 14 agents</a:t>
            </a:r>
          </a:p>
        </p:txBody>
      </p:sp>
      <p:sp>
        <p:nvSpPr>
          <p:cNvPr id="21" name="TextBox 20"/>
          <p:cNvSpPr txBox="1"/>
          <p:nvPr/>
        </p:nvSpPr>
        <p:spPr>
          <a:xfrm>
            <a:off x="8503920" y="3291840"/>
            <a:ext cx="3200400" cy="1828800"/>
          </a:xfrm>
          <a:prstGeom prst="rect">
            <a:avLst/>
          </a:prstGeom>
          <a:noFill/>
        </p:spPr>
        <p:txBody>
          <a:bodyPr wrap="square">
            <a:spAutoFit/>
          </a:bodyPr>
          <a:lstStyle/>
          <a:p>
            <a:pPr algn="l"/>
            <a:r>
              <a:rPr sz="1300" b="0">
                <a:solidFill>
                  <a:srgbClr val="333333"/>
                </a:solidFill>
                <a:latin typeface="Calibri"/>
              </a:rPr>
              <a:t>Comprehensive engagement with quality gates</a:t>
            </a:r>
          </a:p>
        </p:txBody>
      </p:sp>
      <p:sp>
        <p:nvSpPr>
          <p:cNvPr id="22" name="Rectangle 21"/>
          <p:cNvSpPr/>
          <p:nvPr/>
        </p:nvSpPr>
        <p:spPr>
          <a:xfrm>
            <a:off x="0" y="6537960"/>
            <a:ext cx="12191695" cy="32004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565392"/>
            <a:ext cx="7315200" cy="274320"/>
          </a:xfrm>
          <a:prstGeom prst="rect">
            <a:avLst/>
          </a:prstGeom>
          <a:noFill/>
        </p:spPr>
        <p:txBody>
          <a:bodyPr wrap="square">
            <a:spAutoFit/>
          </a:bodyPr>
          <a:lstStyle/>
          <a:p>
            <a:pPr algn="l"/>
            <a:r>
              <a:rPr sz="1000" b="0">
                <a:solidFill>
                  <a:srgbClr val="FFFFFF"/>
                </a:solidFill>
                <a:latin typeface="Calibri"/>
              </a:rPr>
              <a:t>Applied Innovation Platform  |  Robert Holzer</a:t>
            </a:r>
          </a:p>
        </p:txBody>
      </p:sp>
      <p:sp>
        <p:nvSpPr>
          <p:cNvPr id="24" name="TextBox 23"/>
          <p:cNvSpPr txBox="1"/>
          <p:nvPr/>
        </p:nvSpPr>
        <p:spPr>
          <a:xfrm>
            <a:off x="10515600" y="6565392"/>
            <a:ext cx="1371600" cy="274320"/>
          </a:xfrm>
          <a:prstGeom prst="rect">
            <a:avLst/>
          </a:prstGeom>
          <a:noFill/>
        </p:spPr>
        <p:txBody>
          <a:bodyPr wrap="square">
            <a:spAutoFit/>
          </a:bodyPr>
          <a:lstStyle/>
          <a:p>
            <a:pPr algn="r"/>
            <a:r>
              <a:rPr sz="1000" b="0">
                <a:solidFill>
                  <a:srgbClr val="FFFFFF"/>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2800" b="1">
                <a:solidFill>
                  <a:srgbClr val="FFFFFF"/>
                </a:solidFill>
                <a:latin typeface="Calibri"/>
              </a:rPr>
              <a:t>What Makes It Different (1 of 2)</a:t>
            </a:r>
          </a:p>
        </p:txBody>
      </p:sp>
      <p:sp>
        <p:nvSpPr>
          <p:cNvPr id="4" name="Rectangle 3"/>
          <p:cNvSpPr/>
          <p:nvPr/>
        </p:nvSpPr>
        <p:spPr>
          <a:xfrm>
            <a:off x="457200" y="1097280"/>
            <a:ext cx="73152" cy="15544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972800" cy="457200"/>
          </a:xfrm>
          <a:prstGeom prst="rect">
            <a:avLst/>
          </a:prstGeom>
          <a:noFill/>
        </p:spPr>
        <p:txBody>
          <a:bodyPr wrap="square">
            <a:spAutoFit/>
          </a:bodyPr>
          <a:lstStyle/>
          <a:p>
            <a:pPr algn="l"/>
            <a:r>
              <a:rPr sz="1800" b="1">
                <a:solidFill>
                  <a:srgbClr val="0A1F44"/>
                </a:solidFill>
                <a:latin typeface="Calibri"/>
              </a:rPr>
              <a:t>Three lenses, not one</a:t>
            </a:r>
          </a:p>
        </p:txBody>
      </p:sp>
      <p:sp>
        <p:nvSpPr>
          <p:cNvPr id="6" name="TextBox 5"/>
          <p:cNvSpPr txBox="1"/>
          <p:nvPr/>
        </p:nvSpPr>
        <p:spPr>
          <a:xfrm>
            <a:off x="685800" y="1600200"/>
            <a:ext cx="10972800" cy="1097280"/>
          </a:xfrm>
          <a:prstGeom prst="rect">
            <a:avLst/>
          </a:prstGeom>
          <a:noFill/>
        </p:spPr>
        <p:txBody>
          <a:bodyPr wrap="square">
            <a:spAutoFit/>
          </a:bodyPr>
          <a:lstStyle/>
          <a:p>
            <a:pPr algn="l"/>
            <a:r>
              <a:rPr sz="1300" b="0">
                <a:solidFill>
                  <a:srgbClr val="333333"/>
                </a:solidFill>
                <a:latin typeface="Calibri"/>
              </a:rPr>
              <a:t>Most innovation tools apply a single framework. This platform requires all three to be applied in parallel by independent agents who do not see each other's work until synthesis. Conflicts are made visible, not smoothed over.</a:t>
            </a:r>
          </a:p>
        </p:txBody>
      </p:sp>
      <p:sp>
        <p:nvSpPr>
          <p:cNvPr id="7" name="Rectangle 6"/>
          <p:cNvSpPr/>
          <p:nvPr/>
        </p:nvSpPr>
        <p:spPr>
          <a:xfrm>
            <a:off x="457200" y="2880360"/>
            <a:ext cx="73152" cy="15544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880360"/>
            <a:ext cx="10972800" cy="457200"/>
          </a:xfrm>
          <a:prstGeom prst="rect">
            <a:avLst/>
          </a:prstGeom>
          <a:noFill/>
        </p:spPr>
        <p:txBody>
          <a:bodyPr wrap="square">
            <a:spAutoFit/>
          </a:bodyPr>
          <a:lstStyle/>
          <a:p>
            <a:pPr algn="l"/>
            <a:r>
              <a:rPr sz="1800" b="1">
                <a:solidFill>
                  <a:srgbClr val="0A1F44"/>
                </a:solidFill>
                <a:latin typeface="Calibri"/>
              </a:rPr>
              <a:t>Two-pass scoring with delta tracking</a:t>
            </a:r>
          </a:p>
        </p:txBody>
      </p:sp>
      <p:sp>
        <p:nvSpPr>
          <p:cNvPr id="9" name="TextBox 8"/>
          <p:cNvSpPr txBox="1"/>
          <p:nvPr/>
        </p:nvSpPr>
        <p:spPr>
          <a:xfrm>
            <a:off x="685800" y="3383280"/>
            <a:ext cx="10972800" cy="1097280"/>
          </a:xfrm>
          <a:prstGeom prst="rect">
            <a:avLst/>
          </a:prstGeom>
          <a:noFill/>
        </p:spPr>
        <p:txBody>
          <a:bodyPr wrap="square">
            <a:spAutoFit/>
          </a:bodyPr>
          <a:lstStyle/>
          <a:p>
            <a:pPr algn="l"/>
            <a:r>
              <a:rPr sz="1300" b="0">
                <a:solidFill>
                  <a:srgbClr val="333333"/>
                </a:solidFill>
                <a:latin typeface="Calibri"/>
              </a:rPr>
              <a:t>Scores are generated twice: once with partial evidence, once with full evidence. The delta is documented with attribution. Decision-makers see the analytical journey, not just the final number.</a:t>
            </a:r>
          </a:p>
        </p:txBody>
      </p:sp>
      <p:sp>
        <p:nvSpPr>
          <p:cNvPr id="10" name="Rectangle 9"/>
          <p:cNvSpPr/>
          <p:nvPr/>
        </p:nvSpPr>
        <p:spPr>
          <a:xfrm>
            <a:off x="457200" y="4663440"/>
            <a:ext cx="73152" cy="15544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63440"/>
            <a:ext cx="10972800" cy="457200"/>
          </a:xfrm>
          <a:prstGeom prst="rect">
            <a:avLst/>
          </a:prstGeom>
          <a:noFill/>
        </p:spPr>
        <p:txBody>
          <a:bodyPr wrap="square">
            <a:spAutoFit/>
          </a:bodyPr>
          <a:lstStyle/>
          <a:p>
            <a:pPr algn="l"/>
            <a:r>
              <a:rPr sz="1800" b="1">
                <a:solidFill>
                  <a:srgbClr val="0A1F44"/>
                </a:solidFill>
                <a:latin typeface="Calibri"/>
              </a:rPr>
              <a:t>Adversarial quality gates</a:t>
            </a:r>
          </a:p>
        </p:txBody>
      </p:sp>
      <p:sp>
        <p:nvSpPr>
          <p:cNvPr id="12" name="TextBox 11"/>
          <p:cNvSpPr txBox="1"/>
          <p:nvPr/>
        </p:nvSpPr>
        <p:spPr>
          <a:xfrm>
            <a:off x="685800" y="5166360"/>
            <a:ext cx="10972800" cy="1097280"/>
          </a:xfrm>
          <a:prstGeom prst="rect">
            <a:avLst/>
          </a:prstGeom>
          <a:noFill/>
        </p:spPr>
        <p:txBody>
          <a:bodyPr wrap="square">
            <a:spAutoFit/>
          </a:bodyPr>
          <a:lstStyle/>
          <a:p>
            <a:pPr algn="l"/>
            <a:r>
              <a:rPr sz="1300" b="0">
                <a:solidFill>
                  <a:srgbClr val="333333"/>
                </a:solidFill>
                <a:latin typeface="Calibri"/>
              </a:rPr>
              <a:t>A dedicated Critic agent evaluates every other agent's output. Failed sections are re-run selectively, not the whole agent. Errors are caught before they propagate downstream.</a:t>
            </a:r>
          </a:p>
        </p:txBody>
      </p:sp>
      <p:sp>
        <p:nvSpPr>
          <p:cNvPr id="13" name="Rectangle 12"/>
          <p:cNvSpPr/>
          <p:nvPr/>
        </p:nvSpPr>
        <p:spPr>
          <a:xfrm>
            <a:off x="0" y="6537960"/>
            <a:ext cx="12191695" cy="32004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65392"/>
            <a:ext cx="7315200" cy="274320"/>
          </a:xfrm>
          <a:prstGeom prst="rect">
            <a:avLst/>
          </a:prstGeom>
          <a:noFill/>
        </p:spPr>
        <p:txBody>
          <a:bodyPr wrap="square">
            <a:spAutoFit/>
          </a:bodyPr>
          <a:lstStyle/>
          <a:p>
            <a:pPr algn="l"/>
            <a:r>
              <a:rPr sz="1000" b="0">
                <a:solidFill>
                  <a:srgbClr val="FFFFFF"/>
                </a:solidFill>
                <a:latin typeface="Calibri"/>
              </a:rPr>
              <a:t>Applied Innovation Platform  |  Robert Holzer</a:t>
            </a:r>
          </a:p>
        </p:txBody>
      </p:sp>
      <p:sp>
        <p:nvSpPr>
          <p:cNvPr id="15" name="TextBox 14"/>
          <p:cNvSpPr txBox="1"/>
          <p:nvPr/>
        </p:nvSpPr>
        <p:spPr>
          <a:xfrm>
            <a:off x="10515600" y="6565392"/>
            <a:ext cx="1371600" cy="274320"/>
          </a:xfrm>
          <a:prstGeom prst="rect">
            <a:avLst/>
          </a:prstGeom>
          <a:noFill/>
        </p:spPr>
        <p:txBody>
          <a:bodyPr wrap="square">
            <a:spAutoFit/>
          </a:bodyPr>
          <a:lstStyle/>
          <a:p>
            <a:pPr algn="r"/>
            <a:r>
              <a:rPr sz="1000" b="0">
                <a:solidFill>
                  <a:srgbClr val="FFFFFF"/>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2800" b="1">
                <a:solidFill>
                  <a:srgbClr val="FFFFFF"/>
                </a:solidFill>
                <a:latin typeface="Calibri"/>
              </a:rPr>
              <a:t>What Makes It Different (2 of 2)</a:t>
            </a:r>
          </a:p>
        </p:txBody>
      </p:sp>
      <p:sp>
        <p:nvSpPr>
          <p:cNvPr id="4" name="Rectangle 3"/>
          <p:cNvSpPr/>
          <p:nvPr/>
        </p:nvSpPr>
        <p:spPr>
          <a:xfrm>
            <a:off x="457200" y="1097280"/>
            <a:ext cx="73152" cy="15544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097280"/>
            <a:ext cx="10972800" cy="457200"/>
          </a:xfrm>
          <a:prstGeom prst="rect">
            <a:avLst/>
          </a:prstGeom>
          <a:noFill/>
        </p:spPr>
        <p:txBody>
          <a:bodyPr wrap="square">
            <a:spAutoFit/>
          </a:bodyPr>
          <a:lstStyle/>
          <a:p>
            <a:pPr algn="l"/>
            <a:r>
              <a:rPr sz="1800" b="1">
                <a:solidFill>
                  <a:srgbClr val="0A1F44"/>
                </a:solidFill>
                <a:latin typeface="Calibri"/>
              </a:rPr>
              <a:t>Built-in fact-checking</a:t>
            </a:r>
          </a:p>
        </p:txBody>
      </p:sp>
      <p:sp>
        <p:nvSpPr>
          <p:cNvPr id="6" name="TextBox 5"/>
          <p:cNvSpPr txBox="1"/>
          <p:nvPr/>
        </p:nvSpPr>
        <p:spPr>
          <a:xfrm>
            <a:off x="685800" y="1600200"/>
            <a:ext cx="10972800" cy="1097280"/>
          </a:xfrm>
          <a:prstGeom prst="rect">
            <a:avLst/>
          </a:prstGeom>
          <a:noFill/>
        </p:spPr>
        <p:txBody>
          <a:bodyPr wrap="square">
            <a:spAutoFit/>
          </a:bodyPr>
          <a:lstStyle/>
          <a:p>
            <a:pPr algn="l"/>
            <a:r>
              <a:rPr sz="1300" b="0">
                <a:solidFill>
                  <a:srgbClr val="333333"/>
                </a:solidFill>
                <a:latin typeface="Calibri"/>
              </a:rPr>
              <a:t>A verification protocol runs at every stage. Numeric claims trace to sources. Citations are validated. Logic is stress-tested. Verification depth scales to the engagement's stake level. Items that cannot be confirmed are flagged for human review rather than passed silently.</a:t>
            </a:r>
          </a:p>
        </p:txBody>
      </p:sp>
      <p:sp>
        <p:nvSpPr>
          <p:cNvPr id="7" name="Rectangle 6"/>
          <p:cNvSpPr/>
          <p:nvPr/>
        </p:nvSpPr>
        <p:spPr>
          <a:xfrm>
            <a:off x="457200" y="2880360"/>
            <a:ext cx="73152" cy="15544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880360"/>
            <a:ext cx="10972800" cy="457200"/>
          </a:xfrm>
          <a:prstGeom prst="rect">
            <a:avLst/>
          </a:prstGeom>
          <a:noFill/>
        </p:spPr>
        <p:txBody>
          <a:bodyPr wrap="square">
            <a:spAutoFit/>
          </a:bodyPr>
          <a:lstStyle/>
          <a:p>
            <a:pPr algn="l"/>
            <a:r>
              <a:rPr sz="1800" b="1">
                <a:solidFill>
                  <a:srgbClr val="0A1F44"/>
                </a:solidFill>
                <a:latin typeface="Calibri"/>
              </a:rPr>
              <a:t>Adaptive engagement brief</a:t>
            </a:r>
          </a:p>
        </p:txBody>
      </p:sp>
      <p:sp>
        <p:nvSpPr>
          <p:cNvPr id="9" name="TextBox 8"/>
          <p:cNvSpPr txBox="1"/>
          <p:nvPr/>
        </p:nvSpPr>
        <p:spPr>
          <a:xfrm>
            <a:off x="685800" y="3383280"/>
            <a:ext cx="10972800" cy="1097280"/>
          </a:xfrm>
          <a:prstGeom prst="rect">
            <a:avLst/>
          </a:prstGeom>
          <a:noFill/>
        </p:spPr>
        <p:txBody>
          <a:bodyPr wrap="square">
            <a:spAutoFit/>
          </a:bodyPr>
          <a:lstStyle/>
          <a:p>
            <a:pPr algn="l"/>
            <a:r>
              <a:rPr sz="1300" b="0">
                <a:solidFill>
                  <a:srgbClr val="333333"/>
                </a:solidFill>
                <a:latin typeface="Calibri"/>
              </a:rPr>
              <a:t>The challenge specification is a living document. When findings invalidate an assumption, the brief is updated. Downstream agents always read the latest version. The original is preserved so the evolution of understanding is visible.</a:t>
            </a:r>
          </a:p>
        </p:txBody>
      </p:sp>
      <p:sp>
        <p:nvSpPr>
          <p:cNvPr id="10" name="Rectangle 9"/>
          <p:cNvSpPr/>
          <p:nvPr/>
        </p:nvSpPr>
        <p:spPr>
          <a:xfrm>
            <a:off x="457200" y="4663440"/>
            <a:ext cx="73152" cy="15544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663440"/>
            <a:ext cx="10972800" cy="457200"/>
          </a:xfrm>
          <a:prstGeom prst="rect">
            <a:avLst/>
          </a:prstGeom>
          <a:noFill/>
        </p:spPr>
        <p:txBody>
          <a:bodyPr wrap="square">
            <a:spAutoFit/>
          </a:bodyPr>
          <a:lstStyle/>
          <a:p>
            <a:pPr algn="l"/>
            <a:r>
              <a:rPr sz="1800" b="1">
                <a:solidFill>
                  <a:srgbClr val="0A1F44"/>
                </a:solidFill>
                <a:latin typeface="Calibri"/>
              </a:rPr>
              <a:t>Open architecture</a:t>
            </a:r>
          </a:p>
        </p:txBody>
      </p:sp>
      <p:sp>
        <p:nvSpPr>
          <p:cNvPr id="12" name="TextBox 11"/>
          <p:cNvSpPr txBox="1"/>
          <p:nvPr/>
        </p:nvSpPr>
        <p:spPr>
          <a:xfrm>
            <a:off x="685800" y="5166360"/>
            <a:ext cx="10972800" cy="1097280"/>
          </a:xfrm>
          <a:prstGeom prst="rect">
            <a:avLst/>
          </a:prstGeom>
          <a:noFill/>
        </p:spPr>
        <p:txBody>
          <a:bodyPr wrap="square">
            <a:spAutoFit/>
          </a:bodyPr>
          <a:lstStyle/>
          <a:p>
            <a:pPr algn="l"/>
            <a:r>
              <a:rPr sz="1300" b="0">
                <a:solidFill>
                  <a:srgbClr val="333333"/>
                </a:solidFill>
                <a:latin typeface="Calibri"/>
              </a:rPr>
              <a:t>14 agents documented in a public repository with full transparency. Model-agnostic: runs on Claude, Gemini, GPT-4, or local models. An MCP server exposes all 14 agents as callable tools from any AI session.</a:t>
            </a:r>
          </a:p>
        </p:txBody>
      </p:sp>
      <p:sp>
        <p:nvSpPr>
          <p:cNvPr id="13" name="Rectangle 12"/>
          <p:cNvSpPr/>
          <p:nvPr/>
        </p:nvSpPr>
        <p:spPr>
          <a:xfrm>
            <a:off x="0" y="6537960"/>
            <a:ext cx="12191695" cy="32004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65392"/>
            <a:ext cx="7315200" cy="274320"/>
          </a:xfrm>
          <a:prstGeom prst="rect">
            <a:avLst/>
          </a:prstGeom>
          <a:noFill/>
        </p:spPr>
        <p:txBody>
          <a:bodyPr wrap="square">
            <a:spAutoFit/>
          </a:bodyPr>
          <a:lstStyle/>
          <a:p>
            <a:pPr algn="l"/>
            <a:r>
              <a:rPr sz="1000" b="0">
                <a:solidFill>
                  <a:srgbClr val="FFFFFF"/>
                </a:solidFill>
                <a:latin typeface="Calibri"/>
              </a:rPr>
              <a:t>Applied Innovation Platform  |  Robert Holzer</a:t>
            </a:r>
          </a:p>
        </p:txBody>
      </p:sp>
      <p:sp>
        <p:nvSpPr>
          <p:cNvPr id="15" name="TextBox 14"/>
          <p:cNvSpPr txBox="1"/>
          <p:nvPr/>
        </p:nvSpPr>
        <p:spPr>
          <a:xfrm>
            <a:off x="10515600" y="6565392"/>
            <a:ext cx="1371600" cy="274320"/>
          </a:xfrm>
          <a:prstGeom prst="rect">
            <a:avLst/>
          </a:prstGeom>
          <a:noFill/>
        </p:spPr>
        <p:txBody>
          <a:bodyPr wrap="square">
            <a:spAutoFit/>
          </a:bodyPr>
          <a:lstStyle/>
          <a:p>
            <a:pPr algn="r"/>
            <a:r>
              <a:rPr sz="1000" b="0">
                <a:solidFill>
                  <a:srgbClr val="FFFFFF"/>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2800" b="1">
                <a:solidFill>
                  <a:srgbClr val="FFFFFF"/>
                </a:solidFill>
                <a:latin typeface="Calibri"/>
              </a:rPr>
              <a:t>Value to a Strategic Innovation Function</a:t>
            </a:r>
          </a:p>
        </p:txBody>
      </p:sp>
      <p:sp>
        <p:nvSpPr>
          <p:cNvPr id="4" name="Rectangle 3"/>
          <p:cNvSpPr/>
          <p:nvPr/>
        </p:nvSpPr>
        <p:spPr>
          <a:xfrm>
            <a:off x="457200" y="960120"/>
            <a:ext cx="55778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60120"/>
            <a:ext cx="5577840" cy="5029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51560"/>
            <a:ext cx="5212080" cy="365760"/>
          </a:xfrm>
          <a:prstGeom prst="rect">
            <a:avLst/>
          </a:prstGeom>
          <a:noFill/>
        </p:spPr>
        <p:txBody>
          <a:bodyPr wrap="square">
            <a:spAutoFit/>
          </a:bodyPr>
          <a:lstStyle/>
          <a:p>
            <a:pPr algn="l"/>
            <a:r>
              <a:rPr sz="1500" b="1">
                <a:solidFill>
                  <a:srgbClr val="FFFFFF"/>
                </a:solidFill>
                <a:latin typeface="Calibri"/>
              </a:rPr>
              <a:t>CSO / CIO</a:t>
            </a:r>
          </a:p>
        </p:txBody>
      </p:sp>
      <p:sp>
        <p:nvSpPr>
          <p:cNvPr id="7" name="TextBox 6"/>
          <p:cNvSpPr txBox="1"/>
          <p:nvPr/>
        </p:nvSpPr>
        <p:spPr>
          <a:xfrm>
            <a:off x="640080" y="1600200"/>
            <a:ext cx="5212080" cy="1828800"/>
          </a:xfrm>
          <a:prstGeom prst="rect">
            <a:avLst/>
          </a:prstGeom>
          <a:noFill/>
        </p:spPr>
        <p:txBody>
          <a:bodyPr wrap="square">
            <a:spAutoFit/>
          </a:bodyPr>
          <a:lstStyle/>
          <a:p>
            <a:pPr algn="l">
              <a:spcAft>
                <a:spcPts val="800"/>
              </a:spcAft>
            </a:pPr>
            <a:r>
              <a:rPr sz="1200">
                <a:solidFill>
                  <a:srgbClr val="333333"/>
                </a:solidFill>
                <a:latin typeface="Calibri"/>
              </a:rPr>
              <a:t>•  Compress strategic analysis from months to days</a:t>
            </a:r>
          </a:p>
          <a:p>
            <a:pPr algn="l">
              <a:spcAft>
                <a:spcPts val="800"/>
              </a:spcAft>
            </a:pPr>
            <a:r>
              <a:rPr sz="1200">
                <a:solidFill>
                  <a:srgbClr val="333333"/>
                </a:solidFill>
                <a:latin typeface="Calibri"/>
              </a:rPr>
              <a:t>•  Replace inconsistent consulting deliverables with a reproducible system</a:t>
            </a:r>
          </a:p>
          <a:p>
            <a:pPr algn="l">
              <a:spcAft>
                <a:spcPts val="800"/>
              </a:spcAft>
            </a:pPr>
            <a:r>
              <a:rPr sz="1200">
                <a:solidFill>
                  <a:srgbClr val="333333"/>
                </a:solidFill>
                <a:latin typeface="Calibri"/>
              </a:rPr>
              <a:t>•  Generate board-ready artifacts with full evidence chains</a:t>
            </a:r>
          </a:p>
        </p:txBody>
      </p:sp>
      <p:sp>
        <p:nvSpPr>
          <p:cNvPr id="8" name="Rectangle 7"/>
          <p:cNvSpPr/>
          <p:nvPr/>
        </p:nvSpPr>
        <p:spPr>
          <a:xfrm>
            <a:off x="6172200" y="960120"/>
            <a:ext cx="55778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960120"/>
            <a:ext cx="5577840" cy="5029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051560"/>
            <a:ext cx="5212080" cy="365760"/>
          </a:xfrm>
          <a:prstGeom prst="rect">
            <a:avLst/>
          </a:prstGeom>
          <a:noFill/>
        </p:spPr>
        <p:txBody>
          <a:bodyPr wrap="square">
            <a:spAutoFit/>
          </a:bodyPr>
          <a:lstStyle/>
          <a:p>
            <a:pPr algn="l"/>
            <a:r>
              <a:rPr sz="1500" b="1">
                <a:solidFill>
                  <a:srgbClr val="FFFFFF"/>
                </a:solidFill>
                <a:latin typeface="Calibri"/>
              </a:rPr>
              <a:t>Innovation Team</a:t>
            </a:r>
          </a:p>
        </p:txBody>
      </p:sp>
      <p:sp>
        <p:nvSpPr>
          <p:cNvPr id="11" name="TextBox 10"/>
          <p:cNvSpPr txBox="1"/>
          <p:nvPr/>
        </p:nvSpPr>
        <p:spPr>
          <a:xfrm>
            <a:off x="6355080" y="1600200"/>
            <a:ext cx="5212080" cy="1828800"/>
          </a:xfrm>
          <a:prstGeom prst="rect">
            <a:avLst/>
          </a:prstGeom>
          <a:noFill/>
        </p:spPr>
        <p:txBody>
          <a:bodyPr wrap="square">
            <a:spAutoFit/>
          </a:bodyPr>
          <a:lstStyle/>
          <a:p>
            <a:pPr algn="l">
              <a:spcAft>
                <a:spcPts val="800"/>
              </a:spcAft>
            </a:pPr>
            <a:r>
              <a:rPr sz="1200">
                <a:solidFill>
                  <a:srgbClr val="333333"/>
                </a:solidFill>
                <a:latin typeface="Calibri"/>
              </a:rPr>
              <a:t>•  Run structured analysis on every opportunity, not just favorites</a:t>
            </a:r>
          </a:p>
          <a:p>
            <a:pPr algn="l">
              <a:spcAft>
                <a:spcPts val="800"/>
              </a:spcAft>
            </a:pPr>
            <a:r>
              <a:rPr sz="1200">
                <a:solidFill>
                  <a:srgbClr val="333333"/>
                </a:solidFill>
                <a:latin typeface="Calibri"/>
              </a:rPr>
              <a:t>•  Identify cross-lens conflicts before committing resources</a:t>
            </a:r>
          </a:p>
          <a:p>
            <a:pPr algn="l">
              <a:spcAft>
                <a:spcPts val="800"/>
              </a:spcAft>
            </a:pPr>
            <a:r>
              <a:rPr sz="1200">
                <a:solidFill>
                  <a:srgbClr val="333333"/>
                </a:solidFill>
                <a:latin typeface="Calibri"/>
              </a:rPr>
              <a:t>•  Score opportunities consistently across the portfolio</a:t>
            </a:r>
          </a:p>
        </p:txBody>
      </p:sp>
      <p:sp>
        <p:nvSpPr>
          <p:cNvPr id="12" name="Rectangle 11"/>
          <p:cNvSpPr/>
          <p:nvPr/>
        </p:nvSpPr>
        <p:spPr>
          <a:xfrm>
            <a:off x="457200" y="3611880"/>
            <a:ext cx="55778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611880"/>
            <a:ext cx="5577840" cy="5029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703320"/>
            <a:ext cx="5212080" cy="365760"/>
          </a:xfrm>
          <a:prstGeom prst="rect">
            <a:avLst/>
          </a:prstGeom>
          <a:noFill/>
        </p:spPr>
        <p:txBody>
          <a:bodyPr wrap="square">
            <a:spAutoFit/>
          </a:bodyPr>
          <a:lstStyle/>
          <a:p>
            <a:pPr algn="l"/>
            <a:r>
              <a:rPr sz="1500" b="1">
                <a:solidFill>
                  <a:srgbClr val="FFFFFF"/>
                </a:solidFill>
                <a:latin typeface="Calibri"/>
              </a:rPr>
              <a:t>Transformation Leader</a:t>
            </a:r>
          </a:p>
        </p:txBody>
      </p:sp>
      <p:sp>
        <p:nvSpPr>
          <p:cNvPr id="15" name="TextBox 14"/>
          <p:cNvSpPr txBox="1"/>
          <p:nvPr/>
        </p:nvSpPr>
        <p:spPr>
          <a:xfrm>
            <a:off x="640080" y="4251960"/>
            <a:ext cx="5212080" cy="1828800"/>
          </a:xfrm>
          <a:prstGeom prst="rect">
            <a:avLst/>
          </a:prstGeom>
          <a:noFill/>
        </p:spPr>
        <p:txBody>
          <a:bodyPr wrap="square">
            <a:spAutoFit/>
          </a:bodyPr>
          <a:lstStyle/>
          <a:p>
            <a:pPr algn="l">
              <a:spcAft>
                <a:spcPts val="800"/>
              </a:spcAft>
            </a:pPr>
            <a:r>
              <a:rPr sz="1200">
                <a:solidFill>
                  <a:srgbClr val="333333"/>
                </a:solidFill>
                <a:latin typeface="Calibri"/>
              </a:rPr>
              <a:t>•  Pressure-test initiatives against multiple plausible futures</a:t>
            </a:r>
          </a:p>
          <a:p>
            <a:pPr algn="l">
              <a:spcAft>
                <a:spcPts val="800"/>
              </a:spcAft>
            </a:pPr>
            <a:r>
              <a:rPr sz="1200">
                <a:solidFill>
                  <a:srgbClr val="333333"/>
                </a:solidFill>
                <a:latin typeface="Calibri"/>
              </a:rPr>
              <a:t>•  Surface organizational readiness gaps before pilots fail</a:t>
            </a:r>
          </a:p>
          <a:p>
            <a:pPr algn="l">
              <a:spcAft>
                <a:spcPts val="800"/>
              </a:spcAft>
            </a:pPr>
            <a:r>
              <a:rPr sz="1200">
                <a:solidFill>
                  <a:srgbClr val="333333"/>
                </a:solidFill>
                <a:latin typeface="Calibri"/>
              </a:rPr>
              <a:t>•  Build evidence-based business cases that survive scrutiny</a:t>
            </a:r>
          </a:p>
        </p:txBody>
      </p:sp>
      <p:sp>
        <p:nvSpPr>
          <p:cNvPr id="16" name="Rectangle 15"/>
          <p:cNvSpPr/>
          <p:nvPr/>
        </p:nvSpPr>
        <p:spPr>
          <a:xfrm>
            <a:off x="6172200" y="3611880"/>
            <a:ext cx="5577840" cy="24688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3611880"/>
            <a:ext cx="5577840" cy="5029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703320"/>
            <a:ext cx="5212080" cy="365760"/>
          </a:xfrm>
          <a:prstGeom prst="rect">
            <a:avLst/>
          </a:prstGeom>
          <a:noFill/>
        </p:spPr>
        <p:txBody>
          <a:bodyPr wrap="square">
            <a:spAutoFit/>
          </a:bodyPr>
          <a:lstStyle/>
          <a:p>
            <a:pPr algn="l"/>
            <a:r>
              <a:rPr sz="1500" b="1">
                <a:solidFill>
                  <a:srgbClr val="FFFFFF"/>
                </a:solidFill>
                <a:latin typeface="Calibri"/>
              </a:rPr>
              <a:t>Architect / Strategist</a:t>
            </a:r>
          </a:p>
        </p:txBody>
      </p:sp>
      <p:sp>
        <p:nvSpPr>
          <p:cNvPr id="19" name="TextBox 18"/>
          <p:cNvSpPr txBox="1"/>
          <p:nvPr/>
        </p:nvSpPr>
        <p:spPr>
          <a:xfrm>
            <a:off x="6355080" y="4251960"/>
            <a:ext cx="5212080" cy="1828800"/>
          </a:xfrm>
          <a:prstGeom prst="rect">
            <a:avLst/>
          </a:prstGeom>
          <a:noFill/>
        </p:spPr>
        <p:txBody>
          <a:bodyPr wrap="square">
            <a:spAutoFit/>
          </a:bodyPr>
          <a:lstStyle/>
          <a:p>
            <a:pPr algn="l">
              <a:spcAft>
                <a:spcPts val="800"/>
              </a:spcAft>
            </a:pPr>
            <a:r>
              <a:rPr sz="1200">
                <a:solidFill>
                  <a:srgbClr val="333333"/>
                </a:solidFill>
                <a:latin typeface="Calibri"/>
              </a:rPr>
              <a:t>•  Apply systems, design, and foresight as a coordinated practice</a:t>
            </a:r>
          </a:p>
          <a:p>
            <a:pPr algn="l">
              <a:spcAft>
                <a:spcPts val="800"/>
              </a:spcAft>
            </a:pPr>
            <a:r>
              <a:rPr sz="1200">
                <a:solidFill>
                  <a:srgbClr val="333333"/>
                </a:solidFill>
                <a:latin typeface="Calibri"/>
              </a:rPr>
              <a:t>•  Document every recommendation with traceable evidence</a:t>
            </a:r>
          </a:p>
          <a:p>
            <a:pPr algn="l">
              <a:spcAft>
                <a:spcPts val="800"/>
              </a:spcAft>
            </a:pPr>
            <a:r>
              <a:rPr sz="1200">
                <a:solidFill>
                  <a:srgbClr val="333333"/>
                </a:solidFill>
                <a:latin typeface="Calibri"/>
              </a:rPr>
              <a:t>•  Eliminate analytical drift from single-lens thinking</a:t>
            </a:r>
          </a:p>
        </p:txBody>
      </p:sp>
      <p:sp>
        <p:nvSpPr>
          <p:cNvPr id="20" name="Rectangle 19"/>
          <p:cNvSpPr/>
          <p:nvPr/>
        </p:nvSpPr>
        <p:spPr>
          <a:xfrm>
            <a:off x="0" y="6537960"/>
            <a:ext cx="12191695" cy="32004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6565392"/>
            <a:ext cx="7315200" cy="274320"/>
          </a:xfrm>
          <a:prstGeom prst="rect">
            <a:avLst/>
          </a:prstGeom>
          <a:noFill/>
        </p:spPr>
        <p:txBody>
          <a:bodyPr wrap="square">
            <a:spAutoFit/>
          </a:bodyPr>
          <a:lstStyle/>
          <a:p>
            <a:pPr algn="l"/>
            <a:r>
              <a:rPr sz="1000" b="0">
                <a:solidFill>
                  <a:srgbClr val="FFFFFF"/>
                </a:solidFill>
                <a:latin typeface="Calibri"/>
              </a:rPr>
              <a:t>Applied Innovation Platform  |  Robert Holzer</a:t>
            </a:r>
          </a:p>
        </p:txBody>
      </p:sp>
      <p:sp>
        <p:nvSpPr>
          <p:cNvPr id="22" name="TextBox 21"/>
          <p:cNvSpPr txBox="1"/>
          <p:nvPr/>
        </p:nvSpPr>
        <p:spPr>
          <a:xfrm>
            <a:off x="10515600" y="6565392"/>
            <a:ext cx="1371600" cy="274320"/>
          </a:xfrm>
          <a:prstGeom prst="rect">
            <a:avLst/>
          </a:prstGeom>
          <a:noFill/>
        </p:spPr>
        <p:txBody>
          <a:bodyPr wrap="square">
            <a:spAutoFit/>
          </a:bodyPr>
          <a:lstStyle/>
          <a:p>
            <a:pPr algn="r"/>
            <a:r>
              <a:rPr sz="1000" b="0">
                <a:solidFill>
                  <a:srgbClr val="FFFFFF"/>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0972800" cy="457200"/>
          </a:xfrm>
          <a:prstGeom prst="rect">
            <a:avLst/>
          </a:prstGeom>
          <a:noFill/>
        </p:spPr>
        <p:txBody>
          <a:bodyPr wrap="square">
            <a:spAutoFit/>
          </a:bodyPr>
          <a:lstStyle/>
          <a:p>
            <a:pPr algn="l"/>
            <a:r>
              <a:rPr sz="2800" b="1">
                <a:solidFill>
                  <a:srgbClr val="FFFFFF"/>
                </a:solidFill>
                <a:latin typeface="Calibri"/>
              </a:rPr>
              <a:t>What's Built and What's Working</a:t>
            </a:r>
          </a:p>
        </p:txBody>
      </p:sp>
      <p:sp>
        <p:nvSpPr>
          <p:cNvPr id="4" name="Rectangle 3"/>
          <p:cNvSpPr/>
          <p:nvPr/>
        </p:nvSpPr>
        <p:spPr>
          <a:xfrm>
            <a:off x="457200" y="1051560"/>
            <a:ext cx="11247120" cy="594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73152" cy="5943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70432"/>
            <a:ext cx="4114800" cy="457200"/>
          </a:xfrm>
          <a:prstGeom prst="rect">
            <a:avLst/>
          </a:prstGeom>
          <a:noFill/>
        </p:spPr>
        <p:txBody>
          <a:bodyPr wrap="square">
            <a:spAutoFit/>
          </a:bodyPr>
          <a:lstStyle/>
          <a:p>
            <a:pPr algn="l"/>
            <a:r>
              <a:rPr sz="1400" b="1">
                <a:solidFill>
                  <a:srgbClr val="0A1F44"/>
                </a:solidFill>
                <a:latin typeface="Calibri"/>
              </a:rPr>
              <a:t>14 agent specifications</a:t>
            </a:r>
          </a:p>
        </p:txBody>
      </p:sp>
      <p:sp>
        <p:nvSpPr>
          <p:cNvPr id="7" name="TextBox 6"/>
          <p:cNvSpPr txBox="1"/>
          <p:nvPr/>
        </p:nvSpPr>
        <p:spPr>
          <a:xfrm>
            <a:off x="5029200" y="1170432"/>
            <a:ext cx="6400800" cy="457200"/>
          </a:xfrm>
          <a:prstGeom prst="rect">
            <a:avLst/>
          </a:prstGeom>
          <a:noFill/>
        </p:spPr>
        <p:txBody>
          <a:bodyPr wrap="square">
            <a:spAutoFit/>
          </a:bodyPr>
          <a:lstStyle/>
          <a:p>
            <a:pPr algn="l"/>
            <a:r>
              <a:rPr sz="1300" b="0">
                <a:solidFill>
                  <a:srgbClr val="333333"/>
                </a:solidFill>
                <a:latin typeface="Calibri"/>
              </a:rPr>
              <a:t>Complete and tested in active engagements</a:t>
            </a:r>
          </a:p>
        </p:txBody>
      </p:sp>
      <p:sp>
        <p:nvSpPr>
          <p:cNvPr id="8" name="Rectangle 7"/>
          <p:cNvSpPr/>
          <p:nvPr/>
        </p:nvSpPr>
        <p:spPr>
          <a:xfrm>
            <a:off x="457200" y="1645920"/>
            <a:ext cx="1124712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45920"/>
            <a:ext cx="73152" cy="5943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64792"/>
            <a:ext cx="4114800" cy="457200"/>
          </a:xfrm>
          <a:prstGeom prst="rect">
            <a:avLst/>
          </a:prstGeom>
          <a:noFill/>
        </p:spPr>
        <p:txBody>
          <a:bodyPr wrap="square">
            <a:spAutoFit/>
          </a:bodyPr>
          <a:lstStyle/>
          <a:p>
            <a:pPr algn="l"/>
            <a:r>
              <a:rPr sz="1400" b="1">
                <a:solidFill>
                  <a:srgbClr val="0A1F44"/>
                </a:solidFill>
                <a:latin typeface="Calibri"/>
              </a:rPr>
              <a:t>Pipeline orchestration</a:t>
            </a:r>
          </a:p>
        </p:txBody>
      </p:sp>
      <p:sp>
        <p:nvSpPr>
          <p:cNvPr id="11" name="TextBox 10"/>
          <p:cNvSpPr txBox="1"/>
          <p:nvPr/>
        </p:nvSpPr>
        <p:spPr>
          <a:xfrm>
            <a:off x="5029200" y="1764792"/>
            <a:ext cx="6400800" cy="457200"/>
          </a:xfrm>
          <a:prstGeom prst="rect">
            <a:avLst/>
          </a:prstGeom>
          <a:noFill/>
        </p:spPr>
        <p:txBody>
          <a:bodyPr wrap="square">
            <a:spAutoFit/>
          </a:bodyPr>
          <a:lstStyle/>
          <a:p>
            <a:pPr algn="l"/>
            <a:r>
              <a:rPr sz="1300" b="0">
                <a:solidFill>
                  <a:srgbClr val="333333"/>
                </a:solidFill>
                <a:latin typeface="Calibri"/>
              </a:rPr>
              <a:t>Operational across Quick, Standard, and Deep depths</a:t>
            </a:r>
          </a:p>
        </p:txBody>
      </p:sp>
      <p:sp>
        <p:nvSpPr>
          <p:cNvPr id="12" name="Rectangle 11"/>
          <p:cNvSpPr/>
          <p:nvPr/>
        </p:nvSpPr>
        <p:spPr>
          <a:xfrm>
            <a:off x="457200" y="2240280"/>
            <a:ext cx="11247120" cy="594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240280"/>
            <a:ext cx="73152" cy="5943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9152"/>
            <a:ext cx="4114800" cy="457200"/>
          </a:xfrm>
          <a:prstGeom prst="rect">
            <a:avLst/>
          </a:prstGeom>
          <a:noFill/>
        </p:spPr>
        <p:txBody>
          <a:bodyPr wrap="square">
            <a:spAutoFit/>
          </a:bodyPr>
          <a:lstStyle/>
          <a:p>
            <a:pPr algn="l"/>
            <a:r>
              <a:rPr sz="1400" b="1">
                <a:solidFill>
                  <a:srgbClr val="0A1F44"/>
                </a:solidFill>
                <a:latin typeface="Calibri"/>
              </a:rPr>
              <a:t>Two-pass DVFA scoring</a:t>
            </a:r>
          </a:p>
        </p:txBody>
      </p:sp>
      <p:sp>
        <p:nvSpPr>
          <p:cNvPr id="15" name="TextBox 14"/>
          <p:cNvSpPr txBox="1"/>
          <p:nvPr/>
        </p:nvSpPr>
        <p:spPr>
          <a:xfrm>
            <a:off x="5029200" y="2359152"/>
            <a:ext cx="6400800" cy="457200"/>
          </a:xfrm>
          <a:prstGeom prst="rect">
            <a:avLst/>
          </a:prstGeom>
          <a:noFill/>
        </p:spPr>
        <p:txBody>
          <a:bodyPr wrap="square">
            <a:spAutoFit/>
          </a:bodyPr>
          <a:lstStyle/>
          <a:p>
            <a:pPr algn="l"/>
            <a:r>
              <a:rPr sz="1300" b="0">
                <a:solidFill>
                  <a:srgbClr val="333333"/>
                </a:solidFill>
                <a:latin typeface="Calibri"/>
              </a:rPr>
              <a:t>Operational with delta tracking</a:t>
            </a:r>
          </a:p>
        </p:txBody>
      </p:sp>
      <p:sp>
        <p:nvSpPr>
          <p:cNvPr id="16" name="Rectangle 15"/>
          <p:cNvSpPr/>
          <p:nvPr/>
        </p:nvSpPr>
        <p:spPr>
          <a:xfrm>
            <a:off x="457200" y="2834640"/>
            <a:ext cx="1124712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834640"/>
            <a:ext cx="73152" cy="5943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953512"/>
            <a:ext cx="4114800" cy="457200"/>
          </a:xfrm>
          <a:prstGeom prst="rect">
            <a:avLst/>
          </a:prstGeom>
          <a:noFill/>
        </p:spPr>
        <p:txBody>
          <a:bodyPr wrap="square">
            <a:spAutoFit/>
          </a:bodyPr>
          <a:lstStyle/>
          <a:p>
            <a:pPr algn="l"/>
            <a:r>
              <a:rPr sz="1400" b="1">
                <a:solidFill>
                  <a:srgbClr val="0A1F44"/>
                </a:solidFill>
                <a:latin typeface="Calibri"/>
              </a:rPr>
              <a:t>Critic quality gates</a:t>
            </a:r>
          </a:p>
        </p:txBody>
      </p:sp>
      <p:sp>
        <p:nvSpPr>
          <p:cNvPr id="19" name="TextBox 18"/>
          <p:cNvSpPr txBox="1"/>
          <p:nvPr/>
        </p:nvSpPr>
        <p:spPr>
          <a:xfrm>
            <a:off x="5029200" y="2953512"/>
            <a:ext cx="6400800" cy="457200"/>
          </a:xfrm>
          <a:prstGeom prst="rect">
            <a:avLst/>
          </a:prstGeom>
          <a:noFill/>
        </p:spPr>
        <p:txBody>
          <a:bodyPr wrap="square">
            <a:spAutoFit/>
          </a:bodyPr>
          <a:lstStyle/>
          <a:p>
            <a:pPr algn="l"/>
            <a:r>
              <a:rPr sz="1300" b="0">
                <a:solidFill>
                  <a:srgbClr val="333333"/>
                </a:solidFill>
                <a:latin typeface="Calibri"/>
              </a:rPr>
              <a:t>Operational at every tier boundary</a:t>
            </a:r>
          </a:p>
        </p:txBody>
      </p:sp>
      <p:sp>
        <p:nvSpPr>
          <p:cNvPr id="20" name="Rectangle 19"/>
          <p:cNvSpPr/>
          <p:nvPr/>
        </p:nvSpPr>
        <p:spPr>
          <a:xfrm>
            <a:off x="457200" y="3429000"/>
            <a:ext cx="11247120" cy="594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429000"/>
            <a:ext cx="73152" cy="5943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47872"/>
            <a:ext cx="4114800" cy="457200"/>
          </a:xfrm>
          <a:prstGeom prst="rect">
            <a:avLst/>
          </a:prstGeom>
          <a:noFill/>
        </p:spPr>
        <p:txBody>
          <a:bodyPr wrap="square">
            <a:spAutoFit/>
          </a:bodyPr>
          <a:lstStyle/>
          <a:p>
            <a:pPr algn="l"/>
            <a:r>
              <a:rPr sz="1400" b="1">
                <a:solidFill>
                  <a:srgbClr val="0A1F44"/>
                </a:solidFill>
                <a:latin typeface="Calibri"/>
              </a:rPr>
              <a:t>Verification framework</a:t>
            </a:r>
          </a:p>
        </p:txBody>
      </p:sp>
      <p:sp>
        <p:nvSpPr>
          <p:cNvPr id="23" name="TextBox 22"/>
          <p:cNvSpPr txBox="1"/>
          <p:nvPr/>
        </p:nvSpPr>
        <p:spPr>
          <a:xfrm>
            <a:off x="5029200" y="3547872"/>
            <a:ext cx="6400800" cy="457200"/>
          </a:xfrm>
          <a:prstGeom prst="rect">
            <a:avLst/>
          </a:prstGeom>
          <a:noFill/>
        </p:spPr>
        <p:txBody>
          <a:bodyPr wrap="square">
            <a:spAutoFit/>
          </a:bodyPr>
          <a:lstStyle/>
          <a:p>
            <a:pPr algn="l"/>
            <a:r>
              <a:rPr sz="1300" b="0">
                <a:solidFill>
                  <a:srgbClr val="333333"/>
                </a:solidFill>
                <a:latin typeface="Calibri"/>
              </a:rPr>
              <a:t>Built-in fact-checking with stake-calibrated depth</a:t>
            </a:r>
          </a:p>
        </p:txBody>
      </p:sp>
      <p:sp>
        <p:nvSpPr>
          <p:cNvPr id="24" name="Rectangle 23"/>
          <p:cNvSpPr/>
          <p:nvPr/>
        </p:nvSpPr>
        <p:spPr>
          <a:xfrm>
            <a:off x="457200" y="4023360"/>
            <a:ext cx="1124712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023360"/>
            <a:ext cx="73152" cy="5943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142232"/>
            <a:ext cx="4114800" cy="457200"/>
          </a:xfrm>
          <a:prstGeom prst="rect">
            <a:avLst/>
          </a:prstGeom>
          <a:noFill/>
        </p:spPr>
        <p:txBody>
          <a:bodyPr wrap="square">
            <a:spAutoFit/>
          </a:bodyPr>
          <a:lstStyle/>
          <a:p>
            <a:pPr algn="l"/>
            <a:r>
              <a:rPr sz="1400" b="1">
                <a:solidFill>
                  <a:srgbClr val="0A1F44"/>
                </a:solidFill>
                <a:latin typeface="Calibri"/>
              </a:rPr>
              <a:t>Open-source repository</a:t>
            </a:r>
          </a:p>
        </p:txBody>
      </p:sp>
      <p:sp>
        <p:nvSpPr>
          <p:cNvPr id="27" name="TextBox 26"/>
          <p:cNvSpPr txBox="1"/>
          <p:nvPr/>
        </p:nvSpPr>
        <p:spPr>
          <a:xfrm>
            <a:off x="5029200" y="4142232"/>
            <a:ext cx="6400800" cy="457200"/>
          </a:xfrm>
          <a:prstGeom prst="rect">
            <a:avLst/>
          </a:prstGeom>
          <a:noFill/>
        </p:spPr>
        <p:txBody>
          <a:bodyPr wrap="square">
            <a:spAutoFit/>
          </a:bodyPr>
          <a:lstStyle/>
          <a:p>
            <a:pPr algn="l"/>
            <a:r>
              <a:rPr sz="1300" b="0">
                <a:solidFill>
                  <a:srgbClr val="333333"/>
                </a:solidFill>
                <a:latin typeface="Calibri"/>
              </a:rPr>
              <a:t>Public on GitHub</a:t>
            </a:r>
          </a:p>
        </p:txBody>
      </p:sp>
      <p:sp>
        <p:nvSpPr>
          <p:cNvPr id="28" name="Rectangle 27"/>
          <p:cNvSpPr/>
          <p:nvPr/>
        </p:nvSpPr>
        <p:spPr>
          <a:xfrm>
            <a:off x="457200" y="4617720"/>
            <a:ext cx="11247120" cy="594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617720"/>
            <a:ext cx="73152" cy="5943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736592"/>
            <a:ext cx="4114800" cy="457200"/>
          </a:xfrm>
          <a:prstGeom prst="rect">
            <a:avLst/>
          </a:prstGeom>
          <a:noFill/>
        </p:spPr>
        <p:txBody>
          <a:bodyPr wrap="square">
            <a:spAutoFit/>
          </a:bodyPr>
          <a:lstStyle/>
          <a:p>
            <a:pPr algn="l"/>
            <a:r>
              <a:rPr sz="1400" b="1">
                <a:solidFill>
                  <a:srgbClr val="0A1F44"/>
                </a:solidFill>
                <a:latin typeface="Calibri"/>
              </a:rPr>
              <a:t>MCP server</a:t>
            </a:r>
          </a:p>
        </p:txBody>
      </p:sp>
      <p:sp>
        <p:nvSpPr>
          <p:cNvPr id="31" name="TextBox 30"/>
          <p:cNvSpPr txBox="1"/>
          <p:nvPr/>
        </p:nvSpPr>
        <p:spPr>
          <a:xfrm>
            <a:off x="5029200" y="4736592"/>
            <a:ext cx="6400800" cy="457200"/>
          </a:xfrm>
          <a:prstGeom prst="rect">
            <a:avLst/>
          </a:prstGeom>
          <a:noFill/>
        </p:spPr>
        <p:txBody>
          <a:bodyPr wrap="square">
            <a:spAutoFit/>
          </a:bodyPr>
          <a:lstStyle/>
          <a:p>
            <a:pPr algn="l"/>
            <a:r>
              <a:rPr sz="1300" b="0">
                <a:solidFill>
                  <a:srgbClr val="333333"/>
                </a:solidFill>
                <a:latin typeface="Calibri"/>
              </a:rPr>
              <a:t>Built, deployed, and callable from any AI session</a:t>
            </a:r>
          </a:p>
        </p:txBody>
      </p:sp>
      <p:sp>
        <p:nvSpPr>
          <p:cNvPr id="32" name="Rectangle 31"/>
          <p:cNvSpPr/>
          <p:nvPr/>
        </p:nvSpPr>
        <p:spPr>
          <a:xfrm>
            <a:off x="457200" y="5212080"/>
            <a:ext cx="1124712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212080"/>
            <a:ext cx="73152" cy="5943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330952"/>
            <a:ext cx="4114800" cy="457200"/>
          </a:xfrm>
          <a:prstGeom prst="rect">
            <a:avLst/>
          </a:prstGeom>
          <a:noFill/>
        </p:spPr>
        <p:txBody>
          <a:bodyPr wrap="square">
            <a:spAutoFit/>
          </a:bodyPr>
          <a:lstStyle/>
          <a:p>
            <a:pPr algn="l"/>
            <a:r>
              <a:rPr sz="1400" b="1">
                <a:solidFill>
                  <a:srgbClr val="0A1F44"/>
                </a:solidFill>
                <a:latin typeface="Calibri"/>
              </a:rPr>
              <a:t>Provisional patent</a:t>
            </a:r>
          </a:p>
        </p:txBody>
      </p:sp>
      <p:sp>
        <p:nvSpPr>
          <p:cNvPr id="35" name="TextBox 34"/>
          <p:cNvSpPr txBox="1"/>
          <p:nvPr/>
        </p:nvSpPr>
        <p:spPr>
          <a:xfrm>
            <a:off x="5029200" y="5330952"/>
            <a:ext cx="6400800" cy="457200"/>
          </a:xfrm>
          <a:prstGeom prst="rect">
            <a:avLst/>
          </a:prstGeom>
          <a:noFill/>
        </p:spPr>
        <p:txBody>
          <a:bodyPr wrap="square">
            <a:spAutoFit/>
          </a:bodyPr>
          <a:lstStyle/>
          <a:p>
            <a:pPr algn="l"/>
            <a:r>
              <a:rPr sz="1300" b="0">
                <a:solidFill>
                  <a:srgbClr val="333333"/>
                </a:solidFill>
                <a:latin typeface="Calibri"/>
              </a:rPr>
              <a:t>Filed for the novel methods</a:t>
            </a:r>
          </a:p>
        </p:txBody>
      </p:sp>
      <p:sp>
        <p:nvSpPr>
          <p:cNvPr id="36" name="Rectangle 35"/>
          <p:cNvSpPr/>
          <p:nvPr/>
        </p:nvSpPr>
        <p:spPr>
          <a:xfrm>
            <a:off x="0" y="6537960"/>
            <a:ext cx="12191695" cy="32004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7315200" cy="274320"/>
          </a:xfrm>
          <a:prstGeom prst="rect">
            <a:avLst/>
          </a:prstGeom>
          <a:noFill/>
        </p:spPr>
        <p:txBody>
          <a:bodyPr wrap="square">
            <a:spAutoFit/>
          </a:bodyPr>
          <a:lstStyle/>
          <a:p>
            <a:pPr algn="l"/>
            <a:r>
              <a:rPr sz="1000" b="0">
                <a:solidFill>
                  <a:srgbClr val="FFFFFF"/>
                </a:solidFill>
                <a:latin typeface="Calibri"/>
              </a:rPr>
              <a:t>Applied Innovation Platform  |  Robert Holzer</a:t>
            </a:r>
          </a:p>
        </p:txBody>
      </p:sp>
      <p:sp>
        <p:nvSpPr>
          <p:cNvPr id="38" name="TextBox 37"/>
          <p:cNvSpPr txBox="1"/>
          <p:nvPr/>
        </p:nvSpPr>
        <p:spPr>
          <a:xfrm>
            <a:off x="10515600" y="6565392"/>
            <a:ext cx="1371600" cy="274320"/>
          </a:xfrm>
          <a:prstGeom prst="rect">
            <a:avLst/>
          </a:prstGeom>
          <a:noFill/>
        </p:spPr>
        <p:txBody>
          <a:bodyPr wrap="square">
            <a:spAutoFit/>
          </a:bodyPr>
          <a:lstStyle/>
          <a:p>
            <a:pPr algn="r"/>
            <a:r>
              <a:rPr sz="1000" b="0">
                <a:solidFill>
                  <a:srgbClr val="FFFFFF"/>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097280" cy="7315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515600" cy="731520"/>
          </a:xfrm>
          <a:prstGeom prst="rect">
            <a:avLst/>
          </a:prstGeom>
          <a:noFill/>
        </p:spPr>
        <p:txBody>
          <a:bodyPr wrap="square">
            <a:spAutoFit/>
          </a:bodyPr>
          <a:lstStyle/>
          <a:p>
            <a:pPr algn="l"/>
            <a:r>
              <a:rPr sz="3600" b="1">
                <a:solidFill>
                  <a:srgbClr val="FFFFFF"/>
                </a:solidFill>
                <a:latin typeface="Calibri"/>
              </a:rPr>
              <a:t>The Bigger Picture</a:t>
            </a:r>
          </a:p>
        </p:txBody>
      </p:sp>
      <p:sp>
        <p:nvSpPr>
          <p:cNvPr id="5" name="TextBox 4"/>
          <p:cNvSpPr txBox="1"/>
          <p:nvPr/>
        </p:nvSpPr>
        <p:spPr>
          <a:xfrm>
            <a:off x="731520" y="2286000"/>
            <a:ext cx="10515600" cy="731520"/>
          </a:xfrm>
          <a:prstGeom prst="rect">
            <a:avLst/>
          </a:prstGeom>
          <a:noFill/>
        </p:spPr>
        <p:txBody>
          <a:bodyPr wrap="square">
            <a:spAutoFit/>
          </a:bodyPr>
          <a:lstStyle/>
          <a:p>
            <a:pPr algn="l"/>
            <a:r>
              <a:rPr sz="2200" b="1">
                <a:solidFill>
                  <a:srgbClr val="2E86AB"/>
                </a:solidFill>
                <a:latin typeface="Calibri"/>
              </a:rPr>
              <a:t>Innovation analysis as a system, not a workshop.</a:t>
            </a:r>
          </a:p>
        </p:txBody>
      </p:sp>
      <p:sp>
        <p:nvSpPr>
          <p:cNvPr id="6" name="TextBox 5"/>
          <p:cNvSpPr txBox="1"/>
          <p:nvPr/>
        </p:nvSpPr>
        <p:spPr>
          <a:xfrm>
            <a:off x="731520" y="3200400"/>
            <a:ext cx="10515600" cy="2286000"/>
          </a:xfrm>
          <a:prstGeom prst="rect">
            <a:avLst/>
          </a:prstGeom>
          <a:noFill/>
        </p:spPr>
        <p:txBody>
          <a:bodyPr wrap="square">
            <a:spAutoFit/>
          </a:bodyPr>
          <a:lstStyle/>
          <a:p>
            <a:pPr algn="l"/>
            <a:r>
              <a:rPr sz="1500" b="0">
                <a:solidFill>
                  <a:srgbClr val="FFFFFF"/>
                </a:solidFill>
                <a:latin typeface="Calibri"/>
              </a:rPr>
              <a:t>Most innovation work happens in workshops, decks, and one-off consulting engagements. None of it compounds. Each effort starts from scratch.</a:t>
            </a:r>
          </a:p>
          <a:p>
            <a:pPr algn="l"/>
            <a:r>
              <a:rPr sz="1500" b="0">
                <a:solidFill>
                  <a:srgbClr val="FFFFFF"/>
                </a:solidFill>
                <a:latin typeface="Calibri"/>
              </a:rPr>
              <a:t/>
            </a:r>
          </a:p>
          <a:p>
            <a:pPr algn="l"/>
            <a:r>
              <a:rPr sz="1500" b="0">
                <a:solidFill>
                  <a:srgbClr val="FFFFFF"/>
                </a:solidFill>
                <a:latin typeface="Calibri"/>
              </a:rPr>
              <a:t>This platform turns innovation analysis into a function. Methods are explicit. Pipeline is reproducible. Agents are inspectable. Outputs are traceable.</a:t>
            </a:r>
          </a:p>
          <a:p>
            <a:pPr algn="l"/>
            <a:r>
              <a:rPr sz="1500" b="0">
                <a:solidFill>
                  <a:srgbClr val="FFFFFF"/>
                </a:solidFill>
                <a:latin typeface="Calibri"/>
              </a:rPr>
              <a:t/>
            </a:r>
          </a:p>
          <a:p>
            <a:pPr algn="l"/>
            <a:r>
              <a:rPr sz="1500" b="0">
                <a:solidFill>
                  <a:srgbClr val="FFFFFF"/>
                </a:solidFill>
                <a:latin typeface="Calibri"/>
              </a:rPr>
              <a:t>It belongs in the same category as a corporate research lab, an FP&amp;A function, or a data science team: an internal capability that compounds over time.</a:t>
            </a:r>
          </a:p>
        </p:txBody>
      </p:sp>
      <p:sp>
        <p:nvSpPr>
          <p:cNvPr id="7" name="TextBox 6"/>
          <p:cNvSpPr txBox="1"/>
          <p:nvPr/>
        </p:nvSpPr>
        <p:spPr>
          <a:xfrm>
            <a:off x="731520" y="6035040"/>
            <a:ext cx="10515600" cy="365760"/>
          </a:xfrm>
          <a:prstGeom prst="rect">
            <a:avLst/>
          </a:prstGeom>
          <a:noFill/>
        </p:spPr>
        <p:txBody>
          <a:bodyPr wrap="square">
            <a:spAutoFit/>
          </a:bodyPr>
          <a:lstStyle/>
          <a:p>
            <a:pPr algn="l"/>
            <a:r>
              <a:rPr sz="1200" b="0">
                <a:solidFill>
                  <a:srgbClr val="2E86AB"/>
                </a:solidFill>
                <a:latin typeface="Calibri"/>
              </a:rPr>
              <a:t>github.com/robertholzer42-stack/applied-innovation-platform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